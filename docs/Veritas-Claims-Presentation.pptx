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imo" panose="020B0604020202020204" charset="0"/>
      <p:regular r:id="rId15"/>
    </p:embeddedFont>
    <p:embeddedFont>
      <p:font typeface="Arimo Bold" panose="020B0604020202020204" charset="0"/>
      <p:regular r:id="rId16"/>
    </p:embeddedFont>
    <p:embeddedFont>
      <p:font typeface="Bangers" panose="020B0604020202020204" charset="0"/>
      <p:regular r:id="rId17"/>
    </p:embeddedFont>
    <p:embeddedFont>
      <p:font typeface="Cinema Outfit" panose="020B0604020202020204" charset="0"/>
      <p:regular r:id="rId18"/>
    </p:embeddedFont>
    <p:embeddedFont>
      <p:font typeface="Inter" panose="020B0604020202020204" charset="0"/>
      <p:regular r:id="rId19"/>
    </p:embeddedFont>
    <p:embeddedFont>
      <p:font typeface="Inter Bold" panose="020B0604020202020204" charset="0"/>
      <p:regular r:id="rId20"/>
    </p:embeddedFont>
    <p:embeddedFont>
      <p:font typeface="Inter Medium"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5.jpeg"/><Relationship Id="rId3" Type="http://schemas.openxmlformats.org/officeDocument/2006/relationships/image" Target="../media/image2.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github.com/Pranava-Pai-N/Veritas-Claims" TargetMode="Externa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TextBox 4"/>
          <p:cNvSpPr txBox="1"/>
          <p:nvPr/>
        </p:nvSpPr>
        <p:spPr>
          <a:xfrm>
            <a:off x="4811960" y="2530459"/>
            <a:ext cx="8664079" cy="1511046"/>
          </a:xfrm>
          <a:prstGeom prst="rect">
            <a:avLst/>
          </a:prstGeom>
        </p:spPr>
        <p:txBody>
          <a:bodyPr lIns="0" tIns="0" rIns="0" bIns="0" rtlCol="0" anchor="t">
            <a:spAutoFit/>
          </a:bodyPr>
          <a:lstStyle/>
          <a:p>
            <a:pPr algn="ctr">
              <a:lnSpc>
                <a:spcPts val="12311"/>
              </a:lnSpc>
            </a:pPr>
            <a:r>
              <a:rPr lang="en-US" sz="8550">
                <a:solidFill>
                  <a:srgbClr val="FFFFFF"/>
                </a:solidFill>
                <a:latin typeface="Bangers"/>
                <a:ea typeface="Bangers"/>
                <a:cs typeface="Bangers"/>
                <a:sym typeface="Bangers"/>
              </a:rPr>
              <a:t>Veritas Claims pipeline</a:t>
            </a:r>
          </a:p>
        </p:txBody>
      </p:sp>
      <p:sp>
        <p:nvSpPr>
          <p:cNvPr id="5" name="TextBox 5"/>
          <p:cNvSpPr txBox="1"/>
          <p:nvPr/>
        </p:nvSpPr>
        <p:spPr>
          <a:xfrm>
            <a:off x="4014787" y="4688272"/>
            <a:ext cx="10784863" cy="591542"/>
          </a:xfrm>
          <a:prstGeom prst="rect">
            <a:avLst/>
          </a:prstGeom>
        </p:spPr>
        <p:txBody>
          <a:bodyPr lIns="0" tIns="0" rIns="0" bIns="0" rtlCol="0" anchor="t">
            <a:spAutoFit/>
          </a:bodyPr>
          <a:lstStyle/>
          <a:p>
            <a:pPr algn="ctr">
              <a:lnSpc>
                <a:spcPts val="5182"/>
              </a:lnSpc>
            </a:pPr>
            <a:r>
              <a:rPr lang="en-US" sz="2700" b="1">
                <a:solidFill>
                  <a:srgbClr val="FFFFFF"/>
                </a:solidFill>
                <a:latin typeface="Inter Bold"/>
                <a:ea typeface="Inter Bold"/>
                <a:cs typeface="Inter Bold"/>
                <a:sym typeface="Inter Bold"/>
              </a:rPr>
              <a:t>A Modular Healthcare Claims &amp; Clinical Data Processing Pipeline</a:t>
            </a:r>
          </a:p>
        </p:txBody>
      </p:sp>
      <p:sp>
        <p:nvSpPr>
          <p:cNvPr id="6" name="TextBox 6"/>
          <p:cNvSpPr txBox="1"/>
          <p:nvPr/>
        </p:nvSpPr>
        <p:spPr>
          <a:xfrm>
            <a:off x="6350794" y="6823624"/>
            <a:ext cx="5586412" cy="468188"/>
          </a:xfrm>
          <a:prstGeom prst="rect">
            <a:avLst/>
          </a:prstGeom>
        </p:spPr>
        <p:txBody>
          <a:bodyPr lIns="0" tIns="0" rIns="0" bIns="0" rtlCol="0" anchor="t">
            <a:spAutoFit/>
          </a:bodyPr>
          <a:lstStyle/>
          <a:p>
            <a:pPr algn="ctr">
              <a:lnSpc>
                <a:spcPts val="4173"/>
              </a:lnSpc>
            </a:pPr>
            <a:r>
              <a:rPr lang="en-US" sz="2174" b="1">
                <a:solidFill>
                  <a:srgbClr val="FFFFFF"/>
                </a:solidFill>
                <a:latin typeface="Inter Medium"/>
                <a:ea typeface="Inter Medium"/>
                <a:cs typeface="Inter Medium"/>
                <a:sym typeface="Inter Medium"/>
              </a:rPr>
              <a:t>14-07-2026</a:t>
            </a:r>
          </a:p>
        </p:txBody>
      </p:sp>
      <p:sp>
        <p:nvSpPr>
          <p:cNvPr id="7" name="TextBox 7"/>
          <p:cNvSpPr txBox="1"/>
          <p:nvPr/>
        </p:nvSpPr>
        <p:spPr>
          <a:xfrm>
            <a:off x="7788771" y="5885612"/>
            <a:ext cx="2710458" cy="588264"/>
          </a:xfrm>
          <a:prstGeom prst="rect">
            <a:avLst/>
          </a:prstGeom>
        </p:spPr>
        <p:txBody>
          <a:bodyPr lIns="0" tIns="0" rIns="0" bIns="0" rtlCol="0" anchor="t">
            <a:spAutoFit/>
          </a:bodyPr>
          <a:lstStyle/>
          <a:p>
            <a:pPr algn="ctr">
              <a:lnSpc>
                <a:spcPts val="4607"/>
              </a:lnSpc>
              <a:spcBef>
                <a:spcPct val="0"/>
              </a:spcBef>
            </a:pPr>
            <a:r>
              <a:rPr lang="en-US" sz="3199" b="1">
                <a:solidFill>
                  <a:srgbClr val="FFFFFF"/>
                </a:solidFill>
                <a:latin typeface="Arimo Bold"/>
                <a:ea typeface="Arimo Bold"/>
                <a:cs typeface="Arimo Bold"/>
                <a:sym typeface="Arimo Bold"/>
              </a:rPr>
              <a:t>Pranava Pai 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
        <p:cNvGrpSpPr/>
        <p:nvPr/>
      </p:nvGrpSpPr>
      <p:grpSpPr>
        <a:xfrm>
          <a:off x="0" y="0"/>
          <a:ext cx="0" cy="0"/>
          <a:chOff x="0" y="0"/>
          <a:chExt cx="0" cy="0"/>
        </a:xfrm>
      </p:grpSpPr>
      <p:grpSp>
        <p:nvGrpSpPr>
          <p:cNvPr id="2" name="Group 2"/>
          <p:cNvGrpSpPr/>
          <p:nvPr/>
        </p:nvGrpSpPr>
        <p:grpSpPr>
          <a:xfrm>
            <a:off x="0" y="-5443"/>
            <a:ext cx="18288000" cy="10287000"/>
            <a:chOff x="12620172" y="12728717"/>
            <a:chExt cx="24384000" cy="13716000"/>
          </a:xfrm>
        </p:grpSpPr>
        <p:sp>
          <p:nvSpPr>
            <p:cNvPr id="3" name="Freeform 3" descr="image.png"/>
            <p:cNvSpPr/>
            <p:nvPr/>
          </p:nvSpPr>
          <p:spPr>
            <a:xfrm>
              <a:off x="12620172" y="12728717"/>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IN" dirty="0"/>
            </a:p>
          </p:txBody>
        </p:sp>
      </p:grpSp>
      <p:grpSp>
        <p:nvGrpSpPr>
          <p:cNvPr id="4" name="Group 4"/>
          <p:cNvGrpSpPr/>
          <p:nvPr/>
        </p:nvGrpSpPr>
        <p:grpSpPr>
          <a:xfrm>
            <a:off x="8572500" y="3299868"/>
            <a:ext cx="1143000" cy="57150"/>
            <a:chOff x="0" y="0"/>
            <a:chExt cx="1524000" cy="76200"/>
          </a:xfrm>
        </p:grpSpPr>
        <p:sp>
          <p:nvSpPr>
            <p:cNvPr id="5" name="Freeform 5"/>
            <p:cNvSpPr/>
            <p:nvPr/>
          </p:nvSpPr>
          <p:spPr>
            <a:xfrm>
              <a:off x="0" y="0"/>
              <a:ext cx="1524000" cy="76200"/>
            </a:xfrm>
            <a:custGeom>
              <a:avLst/>
              <a:gdLst/>
              <a:ahLst/>
              <a:cxnLst/>
              <a:rect l="l" t="t" r="r" b="b"/>
              <a:pathLst>
                <a:path w="1524000" h="76200">
                  <a:moveTo>
                    <a:pt x="0" y="0"/>
                  </a:moveTo>
                  <a:lnTo>
                    <a:pt x="1524000" y="0"/>
                  </a:lnTo>
                  <a:lnTo>
                    <a:pt x="1524000" y="76200"/>
                  </a:lnTo>
                  <a:lnTo>
                    <a:pt x="0" y="76200"/>
                  </a:lnTo>
                  <a:close/>
                </a:path>
              </a:pathLst>
            </a:custGeom>
            <a:solidFill>
              <a:srgbClr val="0D9488"/>
            </a:solidFill>
          </p:spPr>
        </p:sp>
      </p:grpSp>
      <p:sp>
        <p:nvSpPr>
          <p:cNvPr id="6" name="TextBox 6"/>
          <p:cNvSpPr txBox="1"/>
          <p:nvPr/>
        </p:nvSpPr>
        <p:spPr>
          <a:xfrm>
            <a:off x="4428976" y="3624671"/>
            <a:ext cx="9430048" cy="1093851"/>
          </a:xfrm>
          <a:prstGeom prst="rect">
            <a:avLst/>
          </a:prstGeom>
        </p:spPr>
        <p:txBody>
          <a:bodyPr lIns="0" tIns="0" rIns="0" bIns="0" rtlCol="0" anchor="t">
            <a:spAutoFit/>
          </a:bodyPr>
          <a:lstStyle/>
          <a:p>
            <a:pPr algn="ctr">
              <a:lnSpc>
                <a:spcPts val="9072"/>
              </a:lnSpc>
            </a:pPr>
            <a:r>
              <a:rPr lang="en-US" sz="6300" dirty="0">
                <a:solidFill>
                  <a:srgbClr val="FFFFFF"/>
                </a:solidFill>
                <a:latin typeface="Cinema Outfit"/>
                <a:ea typeface="Cinema Outfit"/>
                <a:cs typeface="Cinema Outfit"/>
                <a:sym typeface="Cinema Outfit"/>
              </a:rPr>
              <a:t>Proposed architecture</a:t>
            </a:r>
          </a:p>
        </p:txBody>
      </p:sp>
      <p:sp>
        <p:nvSpPr>
          <p:cNvPr id="7" name="TextBox 7"/>
          <p:cNvSpPr txBox="1"/>
          <p:nvPr/>
        </p:nvSpPr>
        <p:spPr>
          <a:xfrm>
            <a:off x="3786187" y="6141311"/>
            <a:ext cx="10715625" cy="1042035"/>
          </a:xfrm>
          <a:prstGeom prst="rect">
            <a:avLst/>
          </a:prstGeom>
        </p:spPr>
        <p:txBody>
          <a:bodyPr lIns="0" tIns="0" rIns="0" bIns="0" rtlCol="0" anchor="t">
            <a:spAutoFit/>
          </a:bodyPr>
          <a:lstStyle/>
          <a:p>
            <a:pPr algn="ctr">
              <a:lnSpc>
                <a:spcPts val="4320"/>
              </a:lnSpc>
            </a:pPr>
            <a:r>
              <a:rPr lang="en-US" sz="2250" b="1" dirty="0">
                <a:solidFill>
                  <a:srgbClr val="94A3B8"/>
                </a:solidFill>
                <a:latin typeface="Inter Bold"/>
                <a:ea typeface="Inter Bold"/>
                <a:cs typeface="Inter Bold"/>
                <a:sym typeface="Inter Bold"/>
              </a:rPr>
              <a:t>A structured deep-dive into the ingestion layers, data </a:t>
            </a:r>
            <a:r>
              <a:rPr lang="en-US" sz="2250" b="1" dirty="0" err="1">
                <a:solidFill>
                  <a:srgbClr val="94A3B8"/>
                </a:solidFill>
                <a:latin typeface="Inter Bold"/>
                <a:ea typeface="Inter Bold"/>
                <a:cs typeface="Inter Bold"/>
                <a:sym typeface="Inter Bold"/>
              </a:rPr>
              <a:t>standardisation</a:t>
            </a:r>
            <a:r>
              <a:rPr lang="en-US" sz="2250" b="1" dirty="0">
                <a:solidFill>
                  <a:srgbClr val="94A3B8"/>
                </a:solidFill>
                <a:latin typeface="Inter Bold"/>
                <a:ea typeface="Inter Bold"/>
                <a:cs typeface="Inter Bold"/>
                <a:sym typeface="Inter Bold"/>
              </a:rPr>
              <a:t>, database design, and monitoring system of Veritas Claims.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143000" y="3967686"/>
            <a:ext cx="7715250" cy="3431457"/>
            <a:chOff x="0" y="0"/>
            <a:chExt cx="10287000" cy="4575277"/>
          </a:xfrm>
        </p:grpSpPr>
        <p:sp>
          <p:nvSpPr>
            <p:cNvPr id="5" name="Freeform 5" descr="image.png"/>
            <p:cNvSpPr/>
            <p:nvPr/>
          </p:nvSpPr>
          <p:spPr>
            <a:xfrm>
              <a:off x="0" y="0"/>
              <a:ext cx="10287000" cy="4575302"/>
            </a:xfrm>
            <a:custGeom>
              <a:avLst/>
              <a:gdLst/>
              <a:ahLst/>
              <a:cxnLst/>
              <a:rect l="l" t="t" r="r" b="b"/>
              <a:pathLst>
                <a:path w="10287000" h="4575302">
                  <a:moveTo>
                    <a:pt x="0" y="0"/>
                  </a:moveTo>
                  <a:lnTo>
                    <a:pt x="10287000" y="0"/>
                  </a:lnTo>
                  <a:lnTo>
                    <a:pt x="10287000" y="4575302"/>
                  </a:lnTo>
                  <a:lnTo>
                    <a:pt x="0" y="4575302"/>
                  </a:lnTo>
                  <a:lnTo>
                    <a:pt x="0" y="0"/>
                  </a:lnTo>
                  <a:close/>
                </a:path>
              </a:pathLst>
            </a:custGeom>
            <a:blipFill>
              <a:blip r:embed="rId4"/>
              <a:stretch>
                <a:fillRect b="-344"/>
              </a:stretch>
            </a:blipFill>
          </p:spPr>
        </p:sp>
      </p:grpSp>
      <p:grpSp>
        <p:nvGrpSpPr>
          <p:cNvPr id="6" name="Group 6"/>
          <p:cNvGrpSpPr/>
          <p:nvPr/>
        </p:nvGrpSpPr>
        <p:grpSpPr>
          <a:xfrm>
            <a:off x="9429750" y="3967686"/>
            <a:ext cx="7715250" cy="3431457"/>
            <a:chOff x="0" y="0"/>
            <a:chExt cx="10287000" cy="4575277"/>
          </a:xfrm>
        </p:grpSpPr>
        <p:sp>
          <p:nvSpPr>
            <p:cNvPr id="7" name="Freeform 7" descr="image.png"/>
            <p:cNvSpPr/>
            <p:nvPr/>
          </p:nvSpPr>
          <p:spPr>
            <a:xfrm>
              <a:off x="0" y="0"/>
              <a:ext cx="10287000" cy="4575302"/>
            </a:xfrm>
            <a:custGeom>
              <a:avLst/>
              <a:gdLst/>
              <a:ahLst/>
              <a:cxnLst/>
              <a:rect l="l" t="t" r="r" b="b"/>
              <a:pathLst>
                <a:path w="10287000" h="4575302">
                  <a:moveTo>
                    <a:pt x="0" y="0"/>
                  </a:moveTo>
                  <a:lnTo>
                    <a:pt x="10287000" y="0"/>
                  </a:lnTo>
                  <a:lnTo>
                    <a:pt x="10287000" y="4575302"/>
                  </a:lnTo>
                  <a:lnTo>
                    <a:pt x="0" y="4575302"/>
                  </a:lnTo>
                  <a:lnTo>
                    <a:pt x="0" y="0"/>
                  </a:lnTo>
                  <a:close/>
                </a:path>
              </a:pathLst>
            </a:custGeom>
            <a:blipFill>
              <a:blip r:embed="rId5"/>
              <a:stretch>
                <a:fillRect b="-344"/>
              </a:stretch>
            </a:blipFill>
          </p:spPr>
        </p:sp>
      </p:grpSp>
      <p:grpSp>
        <p:nvGrpSpPr>
          <p:cNvPr id="8" name="Group 8"/>
          <p:cNvGrpSpPr/>
          <p:nvPr/>
        </p:nvGrpSpPr>
        <p:grpSpPr>
          <a:xfrm>
            <a:off x="1941671" y="4553474"/>
            <a:ext cx="6330791" cy="411432"/>
            <a:chOff x="0" y="0"/>
            <a:chExt cx="8441055" cy="548576"/>
          </a:xfrm>
        </p:grpSpPr>
        <p:sp>
          <p:nvSpPr>
            <p:cNvPr id="9" name="Freeform 9"/>
            <p:cNvSpPr/>
            <p:nvPr/>
          </p:nvSpPr>
          <p:spPr>
            <a:xfrm>
              <a:off x="0" y="0"/>
              <a:ext cx="8441054" cy="548580"/>
            </a:xfrm>
            <a:custGeom>
              <a:avLst/>
              <a:gdLst/>
              <a:ahLst/>
              <a:cxnLst/>
              <a:rect l="l" t="t" r="r" b="b"/>
              <a:pathLst>
                <a:path w="8441054" h="548580">
                  <a:moveTo>
                    <a:pt x="0" y="0"/>
                  </a:moveTo>
                  <a:lnTo>
                    <a:pt x="8441054" y="0"/>
                  </a:lnTo>
                  <a:lnTo>
                    <a:pt x="8441054" y="548580"/>
                  </a:lnTo>
                  <a:lnTo>
                    <a:pt x="0" y="548580"/>
                  </a:lnTo>
                  <a:close/>
                </a:path>
              </a:pathLst>
            </a:custGeom>
            <a:blipFill>
              <a:blip r:embed="rId6">
                <a:alphaModFix amt="0"/>
              </a:blip>
              <a:stretch>
                <a:fillRect t="-249818" b="-249817"/>
              </a:stretch>
            </a:blipFill>
          </p:spPr>
        </p:sp>
        <p:sp>
          <p:nvSpPr>
            <p:cNvPr id="10" name="TextBox 10"/>
            <p:cNvSpPr txBox="1"/>
            <p:nvPr/>
          </p:nvSpPr>
          <p:spPr>
            <a:xfrm>
              <a:off x="0" y="-57150"/>
              <a:ext cx="8441055" cy="605726"/>
            </a:xfrm>
            <a:prstGeom prst="rect">
              <a:avLst/>
            </a:prstGeom>
          </p:spPr>
          <p:txBody>
            <a:bodyPr lIns="0" tIns="0" rIns="0" bIns="0" rtlCol="0" anchor="ctr"/>
            <a:lstStyle/>
            <a:p>
              <a:pPr algn="l">
                <a:lnSpc>
                  <a:spcPts val="3887"/>
                </a:lnSpc>
              </a:pPr>
              <a:r>
                <a:rPr lang="en-US" sz="2700">
                  <a:solidFill>
                    <a:srgbClr val="0D9488"/>
                  </a:solidFill>
                  <a:latin typeface="Cinema Outfit"/>
                  <a:ea typeface="Cinema Outfit"/>
                  <a:cs typeface="Cinema Outfit"/>
                  <a:sym typeface="Cinema Outfit"/>
                </a:rPr>
                <a:t>Robust Ingestion &amp; Parsing</a:t>
              </a:r>
            </a:p>
          </p:txBody>
        </p:sp>
      </p:grpSp>
      <p:sp>
        <p:nvSpPr>
          <p:cNvPr id="11" name="TextBox 11"/>
          <p:cNvSpPr txBox="1"/>
          <p:nvPr/>
        </p:nvSpPr>
        <p:spPr>
          <a:xfrm>
            <a:off x="1728788" y="5055394"/>
            <a:ext cx="6543675" cy="1586503"/>
          </a:xfrm>
          <a:prstGeom prst="rect">
            <a:avLst/>
          </a:prstGeom>
        </p:spPr>
        <p:txBody>
          <a:bodyPr lIns="0" tIns="0" rIns="0" bIns="0" rtlCol="0" anchor="t">
            <a:spAutoFit/>
          </a:bodyPr>
          <a:lstStyle/>
          <a:p>
            <a:pPr algn="l">
              <a:lnSpc>
                <a:spcPts val="3456"/>
              </a:lnSpc>
            </a:pPr>
            <a:r>
              <a:rPr lang="en-US" sz="1800">
                <a:solidFill>
                  <a:srgbClr val="475569"/>
                </a:solidFill>
                <a:latin typeface="Inter"/>
                <a:ea typeface="Inter"/>
                <a:cs typeface="Inter"/>
                <a:sym typeface="Inter"/>
              </a:rPr>
              <a:t>Designed a fully automated file ingestion layer that reads unstructured JSON claim batches, implements trace ID tracking for deduplication, and routes system flow dynamically based on semantic rule evaluation matrices.</a:t>
            </a:r>
          </a:p>
        </p:txBody>
      </p:sp>
      <p:grpSp>
        <p:nvGrpSpPr>
          <p:cNvPr id="12" name="Group 12"/>
          <p:cNvGrpSpPr/>
          <p:nvPr/>
        </p:nvGrpSpPr>
        <p:grpSpPr>
          <a:xfrm>
            <a:off x="10529888" y="4553474"/>
            <a:ext cx="6330791" cy="411432"/>
            <a:chOff x="0" y="0"/>
            <a:chExt cx="8441055" cy="548576"/>
          </a:xfrm>
        </p:grpSpPr>
        <p:sp>
          <p:nvSpPr>
            <p:cNvPr id="13" name="Freeform 13"/>
            <p:cNvSpPr/>
            <p:nvPr/>
          </p:nvSpPr>
          <p:spPr>
            <a:xfrm>
              <a:off x="0" y="0"/>
              <a:ext cx="8441054" cy="548580"/>
            </a:xfrm>
            <a:custGeom>
              <a:avLst/>
              <a:gdLst/>
              <a:ahLst/>
              <a:cxnLst/>
              <a:rect l="l" t="t" r="r" b="b"/>
              <a:pathLst>
                <a:path w="8441054" h="548580">
                  <a:moveTo>
                    <a:pt x="0" y="0"/>
                  </a:moveTo>
                  <a:lnTo>
                    <a:pt x="8441054" y="0"/>
                  </a:lnTo>
                  <a:lnTo>
                    <a:pt x="8441054" y="548580"/>
                  </a:lnTo>
                  <a:lnTo>
                    <a:pt x="0" y="548580"/>
                  </a:lnTo>
                  <a:close/>
                </a:path>
              </a:pathLst>
            </a:custGeom>
            <a:blipFill>
              <a:blip r:embed="rId6">
                <a:alphaModFix amt="0"/>
              </a:blip>
              <a:stretch>
                <a:fillRect t="-249818" b="-249817"/>
              </a:stretch>
            </a:blipFill>
          </p:spPr>
        </p:sp>
        <p:sp>
          <p:nvSpPr>
            <p:cNvPr id="14" name="TextBox 14"/>
            <p:cNvSpPr txBox="1"/>
            <p:nvPr/>
          </p:nvSpPr>
          <p:spPr>
            <a:xfrm>
              <a:off x="0" y="-57150"/>
              <a:ext cx="8441055" cy="605726"/>
            </a:xfrm>
            <a:prstGeom prst="rect">
              <a:avLst/>
            </a:prstGeom>
          </p:spPr>
          <p:txBody>
            <a:bodyPr lIns="0" tIns="0" rIns="0" bIns="0" rtlCol="0" anchor="ctr"/>
            <a:lstStyle/>
            <a:p>
              <a:pPr algn="l">
                <a:lnSpc>
                  <a:spcPts val="3887"/>
                </a:lnSpc>
              </a:pPr>
              <a:r>
                <a:rPr lang="en-US" sz="2700">
                  <a:solidFill>
                    <a:srgbClr val="0D9488"/>
                  </a:solidFill>
                  <a:latin typeface="Cinema Outfit"/>
                  <a:ea typeface="Cinema Outfit"/>
                  <a:cs typeface="Cinema Outfit"/>
                  <a:sym typeface="Cinema Outfit"/>
                </a:rPr>
                <a:t>API &amp; Monitoring Interface</a:t>
              </a:r>
            </a:p>
          </p:txBody>
        </p:sp>
      </p:grpSp>
      <p:sp>
        <p:nvSpPr>
          <p:cNvPr id="15" name="TextBox 15"/>
          <p:cNvSpPr txBox="1"/>
          <p:nvPr/>
        </p:nvSpPr>
        <p:spPr>
          <a:xfrm>
            <a:off x="10015538" y="5055394"/>
            <a:ext cx="6543675" cy="1586503"/>
          </a:xfrm>
          <a:prstGeom prst="rect">
            <a:avLst/>
          </a:prstGeom>
        </p:spPr>
        <p:txBody>
          <a:bodyPr lIns="0" tIns="0" rIns="0" bIns="0" rtlCol="0" anchor="t">
            <a:spAutoFit/>
          </a:bodyPr>
          <a:lstStyle/>
          <a:p>
            <a:pPr algn="l">
              <a:lnSpc>
                <a:spcPts val="3456"/>
              </a:lnSpc>
            </a:pPr>
            <a:r>
              <a:rPr lang="en-US" sz="1800">
                <a:solidFill>
                  <a:srgbClr val="475569"/>
                </a:solidFill>
                <a:latin typeface="Inter"/>
                <a:ea typeface="Inter"/>
                <a:cs typeface="Inter"/>
                <a:sym typeface="Inter"/>
              </a:rPr>
              <a:t>Constructed an analytical interface backed by FastAPI async triggers and a Streamlit operational control panel. This provides administrative analytics, system throughput graphs, and instant database querying capabilities.</a:t>
            </a:r>
          </a:p>
        </p:txBody>
      </p:sp>
      <p:grpSp>
        <p:nvGrpSpPr>
          <p:cNvPr id="16" name="Group 16"/>
          <p:cNvGrpSpPr/>
          <p:nvPr/>
        </p:nvGrpSpPr>
        <p:grpSpPr>
          <a:xfrm>
            <a:off x="10015538" y="4587621"/>
            <a:ext cx="342900" cy="342900"/>
            <a:chOff x="0" y="0"/>
            <a:chExt cx="457200" cy="457200"/>
          </a:xfrm>
        </p:grpSpPr>
        <p:sp>
          <p:nvSpPr>
            <p:cNvPr id="17" name="Freeform 17" descr="image.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7"/>
              <a:stretch>
                <a:fillRect b="-4166"/>
              </a:stretch>
            </a:blipFill>
          </p:spPr>
        </p:sp>
      </p:grpSp>
      <p:grpSp>
        <p:nvGrpSpPr>
          <p:cNvPr id="18" name="Group 18"/>
          <p:cNvGrpSpPr/>
          <p:nvPr/>
        </p:nvGrpSpPr>
        <p:grpSpPr>
          <a:xfrm>
            <a:off x="1143000" y="857250"/>
            <a:ext cx="16829314" cy="1012849"/>
            <a:chOff x="0" y="0"/>
            <a:chExt cx="22439085" cy="1350467"/>
          </a:xfrm>
        </p:grpSpPr>
        <p:sp>
          <p:nvSpPr>
            <p:cNvPr id="19" name="Freeform 19"/>
            <p:cNvSpPr/>
            <p:nvPr/>
          </p:nvSpPr>
          <p:spPr>
            <a:xfrm>
              <a:off x="0" y="0"/>
              <a:ext cx="22402800" cy="868560"/>
            </a:xfrm>
            <a:custGeom>
              <a:avLst/>
              <a:gdLst/>
              <a:ahLst/>
              <a:cxnLst/>
              <a:rect l="l" t="t" r="r" b="b"/>
              <a:pathLst>
                <a:path w="22402800" h="868560">
                  <a:moveTo>
                    <a:pt x="0" y="0"/>
                  </a:moveTo>
                  <a:lnTo>
                    <a:pt x="22402800" y="0"/>
                  </a:lnTo>
                  <a:lnTo>
                    <a:pt x="22402800" y="868560"/>
                  </a:lnTo>
                  <a:lnTo>
                    <a:pt x="0" y="868560"/>
                  </a:lnTo>
                  <a:close/>
                </a:path>
              </a:pathLst>
            </a:custGeom>
            <a:blipFill>
              <a:blip r:embed="rId6">
                <a:alphaModFix amt="0"/>
              </a:blip>
              <a:stretch>
                <a:fillRect t="-452577" b="-452578"/>
              </a:stretch>
            </a:blipFill>
          </p:spPr>
        </p:sp>
        <p:sp>
          <p:nvSpPr>
            <p:cNvPr id="20" name="TextBox 20"/>
            <p:cNvSpPr txBox="1"/>
            <p:nvPr/>
          </p:nvSpPr>
          <p:spPr>
            <a:xfrm>
              <a:off x="36285" y="386652"/>
              <a:ext cx="22402800" cy="963815"/>
            </a:xfrm>
            <a:prstGeom prst="rect">
              <a:avLst/>
            </a:prstGeom>
          </p:spPr>
          <p:txBody>
            <a:bodyPr lIns="0" tIns="0" rIns="0" bIns="0" rtlCol="0" anchor="ctr"/>
            <a:lstStyle/>
            <a:p>
              <a:pPr algn="l">
                <a:lnSpc>
                  <a:spcPts val="6155"/>
                </a:lnSpc>
              </a:pPr>
              <a:r>
                <a:rPr lang="en-US" sz="4275" dirty="0">
                  <a:solidFill>
                    <a:srgbClr val="0F172A"/>
                  </a:solidFill>
                  <a:latin typeface="Cinema Outfit"/>
                  <a:ea typeface="Cinema Outfit"/>
                  <a:cs typeface="Cinema Outfit"/>
                  <a:sym typeface="Cinema Outfit"/>
                </a:rPr>
                <a:t>System Architecture Overview</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
        <p:cNvGrpSpPr/>
        <p:nvPr/>
      </p:nvGrpSpPr>
      <p:grpSpPr>
        <a:xfrm>
          <a:off x="0" y="0"/>
          <a:ext cx="0" cy="0"/>
          <a:chOff x="0" y="0"/>
          <a:chExt cx="0" cy="0"/>
        </a:xfrm>
      </p:grpSpPr>
      <p:grpSp>
        <p:nvGrpSpPr>
          <p:cNvPr id="2" name="Group 2"/>
          <p:cNvGrpSpPr/>
          <p:nvPr/>
        </p:nvGrpSpPr>
        <p:grpSpPr>
          <a:xfrm>
            <a:off x="1143000" y="3747564"/>
            <a:ext cx="328612" cy="300038"/>
            <a:chOff x="0" y="0"/>
            <a:chExt cx="438150" cy="400050"/>
          </a:xfrm>
        </p:grpSpPr>
        <p:sp>
          <p:nvSpPr>
            <p:cNvPr id="3" name="Freeform 3" descr="image.png"/>
            <p:cNvSpPr/>
            <p:nvPr/>
          </p:nvSpPr>
          <p:spPr>
            <a:xfrm>
              <a:off x="0" y="0"/>
              <a:ext cx="438150" cy="400050"/>
            </a:xfrm>
            <a:custGeom>
              <a:avLst/>
              <a:gdLst/>
              <a:ahLst/>
              <a:cxnLst/>
              <a:rect l="l" t="t" r="r" b="b"/>
              <a:pathLst>
                <a:path w="438150" h="400050">
                  <a:moveTo>
                    <a:pt x="0" y="0"/>
                  </a:moveTo>
                  <a:lnTo>
                    <a:pt x="438150" y="0"/>
                  </a:lnTo>
                  <a:lnTo>
                    <a:pt x="438150" y="400050"/>
                  </a:lnTo>
                  <a:lnTo>
                    <a:pt x="0" y="400050"/>
                  </a:lnTo>
                  <a:lnTo>
                    <a:pt x="0" y="0"/>
                  </a:lnTo>
                  <a:close/>
                </a:path>
              </a:pathLst>
            </a:custGeom>
            <a:blipFill>
              <a:blip r:embed="rId3"/>
              <a:stretch>
                <a:fillRect/>
              </a:stretch>
            </a:blipFill>
          </p:spPr>
        </p:sp>
      </p:grpSp>
      <p:grpSp>
        <p:nvGrpSpPr>
          <p:cNvPr id="4" name="Group 4"/>
          <p:cNvGrpSpPr/>
          <p:nvPr/>
        </p:nvGrpSpPr>
        <p:grpSpPr>
          <a:xfrm>
            <a:off x="1143000" y="4733401"/>
            <a:ext cx="285750" cy="300038"/>
            <a:chOff x="0" y="0"/>
            <a:chExt cx="381000" cy="400050"/>
          </a:xfrm>
        </p:grpSpPr>
        <p:sp>
          <p:nvSpPr>
            <p:cNvPr id="5" name="Freeform 5" descr="image.png"/>
            <p:cNvSpPr/>
            <p:nvPr/>
          </p:nvSpPr>
          <p:spPr>
            <a:xfrm>
              <a:off x="0" y="0"/>
              <a:ext cx="381000" cy="400050"/>
            </a:xfrm>
            <a:custGeom>
              <a:avLst/>
              <a:gdLst/>
              <a:ahLst/>
              <a:cxnLst/>
              <a:rect l="l" t="t" r="r" b="b"/>
              <a:pathLst>
                <a:path w="381000" h="400050">
                  <a:moveTo>
                    <a:pt x="0" y="0"/>
                  </a:moveTo>
                  <a:lnTo>
                    <a:pt x="381000" y="0"/>
                  </a:lnTo>
                  <a:lnTo>
                    <a:pt x="381000" y="400050"/>
                  </a:lnTo>
                  <a:lnTo>
                    <a:pt x="0" y="400050"/>
                  </a:lnTo>
                  <a:lnTo>
                    <a:pt x="0" y="0"/>
                  </a:lnTo>
                  <a:close/>
                </a:path>
              </a:pathLst>
            </a:custGeom>
            <a:blipFill>
              <a:blip r:embed="rId4"/>
              <a:stretch>
                <a:fillRect/>
              </a:stretch>
            </a:blipFill>
          </p:spPr>
        </p:sp>
      </p:grpSp>
      <p:grpSp>
        <p:nvGrpSpPr>
          <p:cNvPr id="6" name="Group 6"/>
          <p:cNvGrpSpPr/>
          <p:nvPr/>
        </p:nvGrpSpPr>
        <p:grpSpPr>
          <a:xfrm>
            <a:off x="1143000" y="5719239"/>
            <a:ext cx="285750" cy="300038"/>
            <a:chOff x="0" y="0"/>
            <a:chExt cx="381000" cy="400050"/>
          </a:xfrm>
        </p:grpSpPr>
        <p:sp>
          <p:nvSpPr>
            <p:cNvPr id="7" name="Freeform 7" descr="image.png"/>
            <p:cNvSpPr/>
            <p:nvPr/>
          </p:nvSpPr>
          <p:spPr>
            <a:xfrm>
              <a:off x="0" y="0"/>
              <a:ext cx="381000" cy="400050"/>
            </a:xfrm>
            <a:custGeom>
              <a:avLst/>
              <a:gdLst/>
              <a:ahLst/>
              <a:cxnLst/>
              <a:rect l="l" t="t" r="r" b="b"/>
              <a:pathLst>
                <a:path w="381000" h="400050">
                  <a:moveTo>
                    <a:pt x="0" y="0"/>
                  </a:moveTo>
                  <a:lnTo>
                    <a:pt x="381000" y="0"/>
                  </a:lnTo>
                  <a:lnTo>
                    <a:pt x="381000" y="400050"/>
                  </a:lnTo>
                  <a:lnTo>
                    <a:pt x="0" y="400050"/>
                  </a:lnTo>
                  <a:lnTo>
                    <a:pt x="0" y="0"/>
                  </a:lnTo>
                  <a:close/>
                </a:path>
              </a:pathLst>
            </a:custGeom>
            <a:blipFill>
              <a:blip r:embed="rId5"/>
              <a:stretch>
                <a:fillRect/>
              </a:stretch>
            </a:blipFill>
          </p:spPr>
        </p:sp>
      </p:grpSp>
      <p:grpSp>
        <p:nvGrpSpPr>
          <p:cNvPr id="8" name="Group 8"/>
          <p:cNvGrpSpPr/>
          <p:nvPr/>
        </p:nvGrpSpPr>
        <p:grpSpPr>
          <a:xfrm>
            <a:off x="1143000" y="6705076"/>
            <a:ext cx="285750" cy="300038"/>
            <a:chOff x="0" y="0"/>
            <a:chExt cx="381000" cy="400050"/>
          </a:xfrm>
        </p:grpSpPr>
        <p:sp>
          <p:nvSpPr>
            <p:cNvPr id="9" name="Freeform 9" descr="image.png"/>
            <p:cNvSpPr/>
            <p:nvPr/>
          </p:nvSpPr>
          <p:spPr>
            <a:xfrm>
              <a:off x="0" y="0"/>
              <a:ext cx="381000" cy="400050"/>
            </a:xfrm>
            <a:custGeom>
              <a:avLst/>
              <a:gdLst/>
              <a:ahLst/>
              <a:cxnLst/>
              <a:rect l="l" t="t" r="r" b="b"/>
              <a:pathLst>
                <a:path w="381000" h="400050">
                  <a:moveTo>
                    <a:pt x="0" y="0"/>
                  </a:moveTo>
                  <a:lnTo>
                    <a:pt x="381000" y="0"/>
                  </a:lnTo>
                  <a:lnTo>
                    <a:pt x="381000" y="400050"/>
                  </a:lnTo>
                  <a:lnTo>
                    <a:pt x="0" y="400050"/>
                  </a:lnTo>
                  <a:lnTo>
                    <a:pt x="0" y="0"/>
                  </a:lnTo>
                  <a:close/>
                </a:path>
              </a:pathLst>
            </a:custGeom>
            <a:blipFill>
              <a:blip r:embed="rId6"/>
              <a:stretch>
                <a:fillRect/>
              </a:stretch>
            </a:blipFill>
          </p:spPr>
        </p:sp>
      </p:grpSp>
      <p:grpSp>
        <p:nvGrpSpPr>
          <p:cNvPr id="10" name="Group 10"/>
          <p:cNvGrpSpPr/>
          <p:nvPr/>
        </p:nvGrpSpPr>
        <p:grpSpPr>
          <a:xfrm>
            <a:off x="1143000" y="857250"/>
            <a:ext cx="16802100" cy="651424"/>
            <a:chOff x="0" y="0"/>
            <a:chExt cx="22402800" cy="868566"/>
          </a:xfrm>
        </p:grpSpPr>
        <p:sp>
          <p:nvSpPr>
            <p:cNvPr id="11" name="Freeform 11"/>
            <p:cNvSpPr/>
            <p:nvPr/>
          </p:nvSpPr>
          <p:spPr>
            <a:xfrm>
              <a:off x="0" y="0"/>
              <a:ext cx="22402800" cy="868560"/>
            </a:xfrm>
            <a:custGeom>
              <a:avLst/>
              <a:gdLst/>
              <a:ahLst/>
              <a:cxnLst/>
              <a:rect l="l" t="t" r="r" b="b"/>
              <a:pathLst>
                <a:path w="22402800" h="868560">
                  <a:moveTo>
                    <a:pt x="0" y="0"/>
                  </a:moveTo>
                  <a:lnTo>
                    <a:pt x="22402800" y="0"/>
                  </a:lnTo>
                  <a:lnTo>
                    <a:pt x="22402800" y="868560"/>
                  </a:lnTo>
                  <a:lnTo>
                    <a:pt x="0" y="868560"/>
                  </a:lnTo>
                  <a:close/>
                </a:path>
              </a:pathLst>
            </a:custGeom>
            <a:blipFill>
              <a:blip r:embed="rId7">
                <a:alphaModFix amt="0"/>
              </a:blip>
              <a:stretch>
                <a:fillRect t="-452577" b="-452578"/>
              </a:stretch>
            </a:blipFill>
          </p:spPr>
        </p:sp>
        <p:sp>
          <p:nvSpPr>
            <p:cNvPr id="12" name="TextBox 12"/>
            <p:cNvSpPr txBox="1"/>
            <p:nvPr/>
          </p:nvSpPr>
          <p:spPr>
            <a:xfrm>
              <a:off x="0" y="-95250"/>
              <a:ext cx="22402800" cy="963816"/>
            </a:xfrm>
            <a:prstGeom prst="rect">
              <a:avLst/>
            </a:prstGeom>
          </p:spPr>
          <p:txBody>
            <a:bodyPr lIns="0" tIns="0" rIns="0" bIns="0" rtlCol="0" anchor="ctr"/>
            <a:lstStyle/>
            <a:p>
              <a:pPr algn="l">
                <a:lnSpc>
                  <a:spcPts val="6155"/>
                </a:lnSpc>
              </a:pPr>
              <a:r>
                <a:rPr lang="en-US" sz="4275">
                  <a:solidFill>
                    <a:srgbClr val="FFFFFF"/>
                  </a:solidFill>
                  <a:latin typeface="Cinema Outfit"/>
                  <a:ea typeface="Cinema Outfit"/>
                  <a:cs typeface="Cinema Outfit"/>
                  <a:sym typeface="Cinema Outfit"/>
                </a:rPr>
                <a:t>Data Ingestion &amp; Quality Filters</a:t>
              </a:r>
            </a:p>
          </p:txBody>
        </p:sp>
      </p:grpSp>
      <p:sp>
        <p:nvSpPr>
          <p:cNvPr id="13" name="Freeform 13"/>
          <p:cNvSpPr/>
          <p:nvPr/>
        </p:nvSpPr>
        <p:spPr>
          <a:xfrm>
            <a:off x="12466177" y="339614"/>
            <a:ext cx="4017975" cy="9444799"/>
          </a:xfrm>
          <a:custGeom>
            <a:avLst/>
            <a:gdLst/>
            <a:ahLst/>
            <a:cxnLst/>
            <a:rect l="l" t="t" r="r" b="b"/>
            <a:pathLst>
              <a:path w="4017975" h="9444799">
                <a:moveTo>
                  <a:pt x="0" y="0"/>
                </a:moveTo>
                <a:lnTo>
                  <a:pt x="4017975" y="0"/>
                </a:lnTo>
                <a:lnTo>
                  <a:pt x="4017975" y="9444799"/>
                </a:lnTo>
                <a:lnTo>
                  <a:pt x="0" y="9444799"/>
                </a:lnTo>
                <a:lnTo>
                  <a:pt x="0" y="0"/>
                </a:lnTo>
                <a:close/>
              </a:path>
            </a:pathLst>
          </a:custGeom>
          <a:blipFill>
            <a:blip r:embed="rId8"/>
            <a:stretch>
              <a:fillRect/>
            </a:stretch>
          </a:blipFill>
        </p:spPr>
      </p:sp>
      <p:sp>
        <p:nvSpPr>
          <p:cNvPr id="14" name="TextBox 14"/>
          <p:cNvSpPr txBox="1"/>
          <p:nvPr/>
        </p:nvSpPr>
        <p:spPr>
          <a:xfrm>
            <a:off x="1643062" y="3597545"/>
            <a:ext cx="7215188" cy="842962"/>
          </a:xfrm>
          <a:prstGeom prst="rect">
            <a:avLst/>
          </a:prstGeom>
        </p:spPr>
        <p:txBody>
          <a:bodyPr lIns="0" tIns="0" rIns="0" bIns="0" rtlCol="0" anchor="t">
            <a:spAutoFit/>
          </a:bodyPr>
          <a:lstStyle/>
          <a:p>
            <a:pPr algn="l">
              <a:lnSpc>
                <a:spcPts val="3441"/>
              </a:lnSpc>
            </a:pPr>
            <a:r>
              <a:rPr lang="en-US" sz="1912" b="1">
                <a:solidFill>
                  <a:srgbClr val="FFFFFF"/>
                </a:solidFill>
                <a:latin typeface="Inter Bold"/>
                <a:ea typeface="Inter Bold"/>
                <a:cs typeface="Inter Bold"/>
                <a:sym typeface="Inter Bold"/>
              </a:rPr>
              <a:t>Staging Ingestion:</a:t>
            </a:r>
            <a:r>
              <a:rPr lang="en-US" sz="1912">
                <a:solidFill>
                  <a:srgbClr val="FFFFFF"/>
                </a:solidFill>
                <a:latin typeface="Inter"/>
                <a:ea typeface="Inter"/>
                <a:cs typeface="Inter"/>
                <a:sym typeface="Inter"/>
              </a:rPr>
              <a:t> Continuous parsing of raw clinical payloads dropping into localized, configurable processing directories.</a:t>
            </a:r>
          </a:p>
        </p:txBody>
      </p:sp>
      <p:sp>
        <p:nvSpPr>
          <p:cNvPr id="15" name="TextBox 15"/>
          <p:cNvSpPr txBox="1"/>
          <p:nvPr/>
        </p:nvSpPr>
        <p:spPr>
          <a:xfrm>
            <a:off x="1643062" y="4583382"/>
            <a:ext cx="7215188" cy="842962"/>
          </a:xfrm>
          <a:prstGeom prst="rect">
            <a:avLst/>
          </a:prstGeom>
        </p:spPr>
        <p:txBody>
          <a:bodyPr lIns="0" tIns="0" rIns="0" bIns="0" rtlCol="0" anchor="t">
            <a:spAutoFit/>
          </a:bodyPr>
          <a:lstStyle/>
          <a:p>
            <a:pPr algn="l">
              <a:lnSpc>
                <a:spcPts val="3441"/>
              </a:lnSpc>
            </a:pPr>
            <a:r>
              <a:rPr lang="en-US" sz="1912" b="1">
                <a:solidFill>
                  <a:srgbClr val="FFFFFF"/>
                </a:solidFill>
                <a:latin typeface="Inter Bold"/>
                <a:ea typeface="Inter Bold"/>
                <a:cs typeface="Inter Bold"/>
                <a:sym typeface="Inter Bold"/>
              </a:rPr>
              <a:t>Validation Engine:</a:t>
            </a:r>
            <a:r>
              <a:rPr lang="en-US" sz="1912">
                <a:solidFill>
                  <a:srgbClr val="FFFFFF"/>
                </a:solidFill>
                <a:latin typeface="Inter"/>
                <a:ea typeface="Inter"/>
                <a:cs typeface="Inter"/>
                <a:sym typeface="Inter"/>
              </a:rPr>
              <a:t> Ensures completeness of demographic details and provider National Provider Identifiers (NPI).</a:t>
            </a:r>
          </a:p>
        </p:txBody>
      </p:sp>
      <p:sp>
        <p:nvSpPr>
          <p:cNvPr id="16" name="TextBox 16"/>
          <p:cNvSpPr txBox="1"/>
          <p:nvPr/>
        </p:nvSpPr>
        <p:spPr>
          <a:xfrm>
            <a:off x="1643062" y="5569220"/>
            <a:ext cx="7215188" cy="842962"/>
          </a:xfrm>
          <a:prstGeom prst="rect">
            <a:avLst/>
          </a:prstGeom>
        </p:spPr>
        <p:txBody>
          <a:bodyPr lIns="0" tIns="0" rIns="0" bIns="0" rtlCol="0" anchor="t">
            <a:spAutoFit/>
          </a:bodyPr>
          <a:lstStyle/>
          <a:p>
            <a:pPr algn="l">
              <a:lnSpc>
                <a:spcPts val="3441"/>
              </a:lnSpc>
            </a:pPr>
            <a:r>
              <a:rPr lang="en-US" sz="1912" b="1">
                <a:solidFill>
                  <a:srgbClr val="FFFFFF"/>
                </a:solidFill>
                <a:latin typeface="Inter Bold"/>
                <a:ea typeface="Inter Bold"/>
                <a:cs typeface="Inter Bold"/>
                <a:sym typeface="Inter Bold"/>
              </a:rPr>
              <a:t>Trace ID Deduplication:</a:t>
            </a:r>
            <a:r>
              <a:rPr lang="en-US" sz="1912">
                <a:solidFill>
                  <a:srgbClr val="FFFFFF"/>
                </a:solidFill>
                <a:latin typeface="Inter"/>
                <a:ea typeface="Inter"/>
                <a:cs typeface="Inter"/>
                <a:sym typeface="Inter"/>
              </a:rPr>
              <a:t> Instantly evaluates payload identifiers to block redundant claims from hitting the datastore.</a:t>
            </a:r>
          </a:p>
        </p:txBody>
      </p:sp>
      <p:sp>
        <p:nvSpPr>
          <p:cNvPr id="17" name="TextBox 17"/>
          <p:cNvSpPr txBox="1"/>
          <p:nvPr/>
        </p:nvSpPr>
        <p:spPr>
          <a:xfrm>
            <a:off x="1643062" y="6555057"/>
            <a:ext cx="7215188" cy="825934"/>
          </a:xfrm>
          <a:prstGeom prst="rect">
            <a:avLst/>
          </a:prstGeom>
        </p:spPr>
        <p:txBody>
          <a:bodyPr lIns="0" tIns="0" rIns="0" bIns="0" rtlCol="0" anchor="t">
            <a:spAutoFit/>
          </a:bodyPr>
          <a:lstStyle/>
          <a:p>
            <a:pPr algn="l">
              <a:lnSpc>
                <a:spcPts val="3441"/>
              </a:lnSpc>
            </a:pPr>
            <a:r>
              <a:rPr lang="en-US" sz="1912" b="1">
                <a:solidFill>
                  <a:srgbClr val="FFFFFF"/>
                </a:solidFill>
                <a:latin typeface="Inter Bold"/>
                <a:ea typeface="Inter Bold"/>
                <a:cs typeface="Inter Bold"/>
                <a:sym typeface="Inter Bold"/>
              </a:rPr>
              <a:t>Isolated DeDup Queue:</a:t>
            </a:r>
            <a:r>
              <a:rPr lang="en-US" sz="1912">
                <a:solidFill>
                  <a:srgbClr val="FFFFFF"/>
                </a:solidFill>
                <a:latin typeface="Inter"/>
                <a:ea typeface="Inter"/>
                <a:cs typeface="Inter"/>
                <a:sym typeface="Inter"/>
              </a:rPr>
              <a:t> Isolates corrupt, structurally invalid, or duplicate records into a distinct hold folder.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143000" y="3726132"/>
            <a:ext cx="5095951" cy="3914775"/>
            <a:chOff x="0" y="0"/>
            <a:chExt cx="6794602" cy="5219700"/>
          </a:xfrm>
        </p:grpSpPr>
        <p:sp>
          <p:nvSpPr>
            <p:cNvPr id="5" name="Freeform 5" descr="image.png"/>
            <p:cNvSpPr/>
            <p:nvPr/>
          </p:nvSpPr>
          <p:spPr>
            <a:xfrm>
              <a:off x="0" y="0"/>
              <a:ext cx="6794627" cy="5219700"/>
            </a:xfrm>
            <a:custGeom>
              <a:avLst/>
              <a:gdLst/>
              <a:ahLst/>
              <a:cxnLst/>
              <a:rect l="l" t="t" r="r" b="b"/>
              <a:pathLst>
                <a:path w="6794627" h="5219700">
                  <a:moveTo>
                    <a:pt x="0" y="0"/>
                  </a:moveTo>
                  <a:lnTo>
                    <a:pt x="6794627" y="0"/>
                  </a:lnTo>
                  <a:lnTo>
                    <a:pt x="6794627" y="5219700"/>
                  </a:lnTo>
                  <a:lnTo>
                    <a:pt x="0" y="5219700"/>
                  </a:lnTo>
                  <a:lnTo>
                    <a:pt x="0" y="0"/>
                  </a:lnTo>
                  <a:close/>
                </a:path>
              </a:pathLst>
            </a:custGeom>
            <a:blipFill>
              <a:blip r:embed="rId4"/>
              <a:stretch>
                <a:fillRect b="-272"/>
              </a:stretch>
            </a:blipFill>
          </p:spPr>
        </p:sp>
      </p:grpSp>
      <p:grpSp>
        <p:nvGrpSpPr>
          <p:cNvPr id="6" name="Group 6"/>
          <p:cNvGrpSpPr/>
          <p:nvPr/>
        </p:nvGrpSpPr>
        <p:grpSpPr>
          <a:xfrm>
            <a:off x="6596139" y="3726132"/>
            <a:ext cx="5095951" cy="3914775"/>
            <a:chOff x="0" y="0"/>
            <a:chExt cx="6794602" cy="5219700"/>
          </a:xfrm>
        </p:grpSpPr>
        <p:sp>
          <p:nvSpPr>
            <p:cNvPr id="7" name="Freeform 7" descr="image.png"/>
            <p:cNvSpPr/>
            <p:nvPr/>
          </p:nvSpPr>
          <p:spPr>
            <a:xfrm>
              <a:off x="0" y="0"/>
              <a:ext cx="6794627" cy="5219700"/>
            </a:xfrm>
            <a:custGeom>
              <a:avLst/>
              <a:gdLst/>
              <a:ahLst/>
              <a:cxnLst/>
              <a:rect l="l" t="t" r="r" b="b"/>
              <a:pathLst>
                <a:path w="6794627" h="5219700">
                  <a:moveTo>
                    <a:pt x="0" y="0"/>
                  </a:moveTo>
                  <a:lnTo>
                    <a:pt x="6794627" y="0"/>
                  </a:lnTo>
                  <a:lnTo>
                    <a:pt x="6794627" y="5219700"/>
                  </a:lnTo>
                  <a:lnTo>
                    <a:pt x="0" y="5219700"/>
                  </a:lnTo>
                  <a:lnTo>
                    <a:pt x="0" y="0"/>
                  </a:lnTo>
                  <a:close/>
                </a:path>
              </a:pathLst>
            </a:custGeom>
            <a:blipFill>
              <a:blip r:embed="rId5"/>
              <a:stretch>
                <a:fillRect r="-6"/>
              </a:stretch>
            </a:blipFill>
          </p:spPr>
        </p:sp>
      </p:grpSp>
      <p:grpSp>
        <p:nvGrpSpPr>
          <p:cNvPr id="8" name="Group 8"/>
          <p:cNvGrpSpPr/>
          <p:nvPr/>
        </p:nvGrpSpPr>
        <p:grpSpPr>
          <a:xfrm>
            <a:off x="12049277" y="3726132"/>
            <a:ext cx="5095951" cy="3914775"/>
            <a:chOff x="0" y="0"/>
            <a:chExt cx="6794602" cy="5219700"/>
          </a:xfrm>
        </p:grpSpPr>
        <p:sp>
          <p:nvSpPr>
            <p:cNvPr id="9" name="Freeform 9" descr="image.png"/>
            <p:cNvSpPr/>
            <p:nvPr/>
          </p:nvSpPr>
          <p:spPr>
            <a:xfrm>
              <a:off x="0" y="0"/>
              <a:ext cx="6794627" cy="5219700"/>
            </a:xfrm>
            <a:custGeom>
              <a:avLst/>
              <a:gdLst/>
              <a:ahLst/>
              <a:cxnLst/>
              <a:rect l="l" t="t" r="r" b="b"/>
              <a:pathLst>
                <a:path w="6794627" h="5219700">
                  <a:moveTo>
                    <a:pt x="0" y="0"/>
                  </a:moveTo>
                  <a:lnTo>
                    <a:pt x="6794627" y="0"/>
                  </a:lnTo>
                  <a:lnTo>
                    <a:pt x="6794627" y="5219700"/>
                  </a:lnTo>
                  <a:lnTo>
                    <a:pt x="0" y="5219700"/>
                  </a:lnTo>
                  <a:lnTo>
                    <a:pt x="0" y="0"/>
                  </a:lnTo>
                  <a:close/>
                </a:path>
              </a:pathLst>
            </a:custGeom>
            <a:blipFill>
              <a:blip r:embed="rId6"/>
              <a:stretch>
                <a:fillRect r="-6"/>
              </a:stretch>
            </a:blipFill>
          </p:spPr>
        </p:sp>
      </p:grpSp>
      <p:grpSp>
        <p:nvGrpSpPr>
          <p:cNvPr id="10" name="Group 10"/>
          <p:cNvGrpSpPr/>
          <p:nvPr/>
        </p:nvGrpSpPr>
        <p:grpSpPr>
          <a:xfrm>
            <a:off x="1585912" y="4169045"/>
            <a:ext cx="857250" cy="857250"/>
            <a:chOff x="0" y="0"/>
            <a:chExt cx="1143000" cy="1143000"/>
          </a:xfrm>
        </p:grpSpPr>
        <p:sp>
          <p:nvSpPr>
            <p:cNvPr id="11" name="Freeform 11" descr="image.png"/>
            <p:cNvSpPr/>
            <p:nvPr/>
          </p:nvSpPr>
          <p:spPr>
            <a:xfrm>
              <a:off x="0" y="0"/>
              <a:ext cx="1143000" cy="1143000"/>
            </a:xfrm>
            <a:custGeom>
              <a:avLst/>
              <a:gdLst/>
              <a:ahLst/>
              <a:cxnLst/>
              <a:rect l="l" t="t" r="r" b="b"/>
              <a:pathLst>
                <a:path w="1143000" h="1143000">
                  <a:moveTo>
                    <a:pt x="0" y="0"/>
                  </a:moveTo>
                  <a:lnTo>
                    <a:pt x="1143000" y="0"/>
                  </a:lnTo>
                  <a:lnTo>
                    <a:pt x="1143000" y="1143000"/>
                  </a:lnTo>
                  <a:lnTo>
                    <a:pt x="0" y="1143000"/>
                  </a:lnTo>
                  <a:lnTo>
                    <a:pt x="0" y="0"/>
                  </a:lnTo>
                  <a:close/>
                </a:path>
              </a:pathLst>
            </a:custGeom>
            <a:blipFill>
              <a:blip r:embed="rId7"/>
              <a:stretch>
                <a:fillRect b="-1666"/>
              </a:stretch>
            </a:blipFill>
          </p:spPr>
        </p:sp>
      </p:grpSp>
      <p:sp>
        <p:nvSpPr>
          <p:cNvPr id="12" name="TextBox 12"/>
          <p:cNvSpPr txBox="1"/>
          <p:nvPr/>
        </p:nvSpPr>
        <p:spPr>
          <a:xfrm>
            <a:off x="2686050" y="4204607"/>
            <a:ext cx="1920240" cy="400050"/>
          </a:xfrm>
          <a:prstGeom prst="rect">
            <a:avLst/>
          </a:prstGeom>
        </p:spPr>
        <p:txBody>
          <a:bodyPr lIns="0" tIns="0" rIns="0" bIns="0" rtlCol="0" anchor="t">
            <a:spAutoFit/>
          </a:bodyPr>
          <a:lstStyle/>
          <a:p>
            <a:pPr algn="l">
              <a:lnSpc>
                <a:spcPts val="3240"/>
              </a:lnSpc>
            </a:pPr>
            <a:r>
              <a:rPr lang="en-US" sz="2250" dirty="0">
                <a:solidFill>
                  <a:srgbClr val="0F172A"/>
                </a:solidFill>
                <a:latin typeface="Cinema Outfit"/>
                <a:ea typeface="Cinema Outfit"/>
                <a:cs typeface="Cinema Outfit"/>
                <a:sym typeface="Cinema Outfit"/>
              </a:rPr>
              <a:t>Parsing Layer</a:t>
            </a:r>
          </a:p>
        </p:txBody>
      </p:sp>
      <p:sp>
        <p:nvSpPr>
          <p:cNvPr id="13" name="TextBox 13"/>
          <p:cNvSpPr txBox="1"/>
          <p:nvPr/>
        </p:nvSpPr>
        <p:spPr>
          <a:xfrm>
            <a:off x="1585912" y="5712095"/>
            <a:ext cx="4210126" cy="1485900"/>
          </a:xfrm>
          <a:prstGeom prst="rect">
            <a:avLst/>
          </a:prstGeom>
        </p:spPr>
        <p:txBody>
          <a:bodyPr lIns="0" tIns="0" rIns="0" bIns="0" rtlCol="0" anchor="t">
            <a:spAutoFit/>
          </a:bodyPr>
          <a:lstStyle/>
          <a:p>
            <a:pPr algn="l">
              <a:lnSpc>
                <a:spcPts val="3240"/>
              </a:lnSpc>
            </a:pPr>
            <a:r>
              <a:rPr lang="en-US" sz="1687">
                <a:solidFill>
                  <a:srgbClr val="475569"/>
                </a:solidFill>
                <a:latin typeface="Inter"/>
                <a:ea typeface="Inter"/>
                <a:cs typeface="Inter"/>
                <a:sym typeface="Inter"/>
              </a:rPr>
              <a:t>Accepts and translates complex clinical JSON elements, isolating core billing records, patient identity maps, and lab metadata cleanly.</a:t>
            </a:r>
          </a:p>
        </p:txBody>
      </p:sp>
      <p:grpSp>
        <p:nvGrpSpPr>
          <p:cNvPr id="14" name="Group 14"/>
          <p:cNvGrpSpPr/>
          <p:nvPr/>
        </p:nvGrpSpPr>
        <p:grpSpPr>
          <a:xfrm>
            <a:off x="7039051" y="4169045"/>
            <a:ext cx="857250" cy="857250"/>
            <a:chOff x="0" y="0"/>
            <a:chExt cx="1143000" cy="1143000"/>
          </a:xfrm>
        </p:grpSpPr>
        <p:sp>
          <p:nvSpPr>
            <p:cNvPr id="15" name="Freeform 15" descr="image.png"/>
            <p:cNvSpPr/>
            <p:nvPr/>
          </p:nvSpPr>
          <p:spPr>
            <a:xfrm>
              <a:off x="0" y="0"/>
              <a:ext cx="1143000" cy="1143000"/>
            </a:xfrm>
            <a:custGeom>
              <a:avLst/>
              <a:gdLst/>
              <a:ahLst/>
              <a:cxnLst/>
              <a:rect l="l" t="t" r="r" b="b"/>
              <a:pathLst>
                <a:path w="1143000" h="1143000">
                  <a:moveTo>
                    <a:pt x="0" y="0"/>
                  </a:moveTo>
                  <a:lnTo>
                    <a:pt x="1143000" y="0"/>
                  </a:lnTo>
                  <a:lnTo>
                    <a:pt x="1143000" y="1143000"/>
                  </a:lnTo>
                  <a:lnTo>
                    <a:pt x="0" y="1143000"/>
                  </a:lnTo>
                  <a:lnTo>
                    <a:pt x="0" y="0"/>
                  </a:lnTo>
                  <a:close/>
                </a:path>
              </a:pathLst>
            </a:custGeom>
            <a:blipFill>
              <a:blip r:embed="rId8"/>
              <a:stretch>
                <a:fillRect/>
              </a:stretch>
            </a:blipFill>
          </p:spPr>
        </p:sp>
      </p:grpSp>
      <p:sp>
        <p:nvSpPr>
          <p:cNvPr id="16" name="TextBox 16"/>
          <p:cNvSpPr txBox="1"/>
          <p:nvPr/>
        </p:nvSpPr>
        <p:spPr>
          <a:xfrm>
            <a:off x="8018859" y="4377735"/>
            <a:ext cx="2887665" cy="394339"/>
          </a:xfrm>
          <a:prstGeom prst="rect">
            <a:avLst/>
          </a:prstGeom>
        </p:spPr>
        <p:txBody>
          <a:bodyPr wrap="square" lIns="0" tIns="0" rIns="0" bIns="0" rtlCol="0" anchor="t">
            <a:spAutoFit/>
          </a:bodyPr>
          <a:lstStyle/>
          <a:p>
            <a:pPr algn="l">
              <a:lnSpc>
                <a:spcPts val="3240"/>
              </a:lnSpc>
            </a:pPr>
            <a:r>
              <a:rPr lang="en-US" sz="2250" dirty="0">
                <a:solidFill>
                  <a:srgbClr val="0F172A"/>
                </a:solidFill>
                <a:latin typeface="Cinema Outfit"/>
                <a:ea typeface="Cinema Outfit"/>
                <a:cs typeface="Cinema Outfit"/>
                <a:sym typeface="Cinema Outfit"/>
              </a:rPr>
              <a:t>Standardization</a:t>
            </a:r>
          </a:p>
        </p:txBody>
      </p:sp>
      <p:sp>
        <p:nvSpPr>
          <p:cNvPr id="17" name="TextBox 17"/>
          <p:cNvSpPr txBox="1"/>
          <p:nvPr/>
        </p:nvSpPr>
        <p:spPr>
          <a:xfrm>
            <a:off x="7039051" y="5712095"/>
            <a:ext cx="4210126" cy="1598295"/>
          </a:xfrm>
          <a:prstGeom prst="rect">
            <a:avLst/>
          </a:prstGeom>
        </p:spPr>
        <p:txBody>
          <a:bodyPr lIns="0" tIns="0" rIns="0" bIns="0" rtlCol="0" anchor="t">
            <a:spAutoFit/>
          </a:bodyPr>
          <a:lstStyle/>
          <a:p>
            <a:pPr algn="l">
              <a:lnSpc>
                <a:spcPts val="3240"/>
              </a:lnSpc>
            </a:pPr>
            <a:r>
              <a:rPr lang="en-US" sz="1687" dirty="0">
                <a:solidFill>
                  <a:srgbClr val="475569"/>
                </a:solidFill>
                <a:latin typeface="Inter"/>
                <a:ea typeface="Inter"/>
                <a:cs typeface="Inter"/>
                <a:sym typeface="Inter"/>
              </a:rPr>
              <a:t>Normalizes chaotic lab test nomenclature and units of measure into standard canonical codes using rule-based dictionary maps via fuzzy matching.</a:t>
            </a:r>
          </a:p>
        </p:txBody>
      </p:sp>
      <p:grpSp>
        <p:nvGrpSpPr>
          <p:cNvPr id="18" name="Group 18"/>
          <p:cNvGrpSpPr/>
          <p:nvPr/>
        </p:nvGrpSpPr>
        <p:grpSpPr>
          <a:xfrm>
            <a:off x="12492190" y="4169045"/>
            <a:ext cx="857250" cy="857250"/>
            <a:chOff x="0" y="0"/>
            <a:chExt cx="1143000" cy="1143000"/>
          </a:xfrm>
        </p:grpSpPr>
        <p:sp>
          <p:nvSpPr>
            <p:cNvPr id="19" name="Freeform 19" descr="image.png"/>
            <p:cNvSpPr/>
            <p:nvPr/>
          </p:nvSpPr>
          <p:spPr>
            <a:xfrm>
              <a:off x="0" y="0"/>
              <a:ext cx="1143000" cy="1143000"/>
            </a:xfrm>
            <a:custGeom>
              <a:avLst/>
              <a:gdLst/>
              <a:ahLst/>
              <a:cxnLst/>
              <a:rect l="l" t="t" r="r" b="b"/>
              <a:pathLst>
                <a:path w="1143000" h="1143000">
                  <a:moveTo>
                    <a:pt x="0" y="0"/>
                  </a:moveTo>
                  <a:lnTo>
                    <a:pt x="1143000" y="0"/>
                  </a:lnTo>
                  <a:lnTo>
                    <a:pt x="1143000" y="1143000"/>
                  </a:lnTo>
                  <a:lnTo>
                    <a:pt x="0" y="1143000"/>
                  </a:lnTo>
                  <a:lnTo>
                    <a:pt x="0" y="0"/>
                  </a:lnTo>
                  <a:close/>
                </a:path>
              </a:pathLst>
            </a:custGeom>
            <a:blipFill>
              <a:blip r:embed="rId9"/>
              <a:stretch>
                <a:fillRect/>
              </a:stretch>
            </a:blipFill>
          </p:spPr>
        </p:sp>
      </p:grpSp>
      <p:sp>
        <p:nvSpPr>
          <p:cNvPr id="20" name="TextBox 20"/>
          <p:cNvSpPr txBox="1"/>
          <p:nvPr/>
        </p:nvSpPr>
        <p:spPr>
          <a:xfrm>
            <a:off x="13549465" y="4404632"/>
            <a:ext cx="2130266" cy="400050"/>
          </a:xfrm>
          <a:prstGeom prst="rect">
            <a:avLst/>
          </a:prstGeom>
        </p:spPr>
        <p:txBody>
          <a:bodyPr lIns="0" tIns="0" rIns="0" bIns="0" rtlCol="0" anchor="t">
            <a:spAutoFit/>
          </a:bodyPr>
          <a:lstStyle/>
          <a:p>
            <a:pPr algn="l">
              <a:lnSpc>
                <a:spcPts val="3240"/>
              </a:lnSpc>
            </a:pPr>
            <a:r>
              <a:rPr lang="en-US" sz="2250" dirty="0">
                <a:solidFill>
                  <a:srgbClr val="0F172A"/>
                </a:solidFill>
                <a:latin typeface="Cinema Outfit"/>
                <a:ea typeface="Cinema Outfit"/>
                <a:cs typeface="Cinema Outfit"/>
                <a:sym typeface="Cinema Outfit"/>
              </a:rPr>
              <a:t>SQLite Storage</a:t>
            </a:r>
          </a:p>
        </p:txBody>
      </p:sp>
      <p:sp>
        <p:nvSpPr>
          <p:cNvPr id="21" name="TextBox 21"/>
          <p:cNvSpPr txBox="1"/>
          <p:nvPr/>
        </p:nvSpPr>
        <p:spPr>
          <a:xfrm>
            <a:off x="12492190" y="5712095"/>
            <a:ext cx="4210126" cy="1485900"/>
          </a:xfrm>
          <a:prstGeom prst="rect">
            <a:avLst/>
          </a:prstGeom>
        </p:spPr>
        <p:txBody>
          <a:bodyPr lIns="0" tIns="0" rIns="0" bIns="0" rtlCol="0" anchor="t">
            <a:spAutoFit/>
          </a:bodyPr>
          <a:lstStyle/>
          <a:p>
            <a:pPr algn="l">
              <a:lnSpc>
                <a:spcPts val="3240"/>
              </a:lnSpc>
            </a:pPr>
            <a:r>
              <a:rPr lang="en-US" sz="1687">
                <a:solidFill>
                  <a:srgbClr val="475569"/>
                </a:solidFill>
                <a:latin typeface="Inter"/>
                <a:ea typeface="Inter"/>
                <a:cs typeface="Inter"/>
                <a:sym typeface="Inter"/>
              </a:rPr>
              <a:t>Commits validated records, process logs, and clean normalized claims instantly into an indexed, relationally optimized transactional database.</a:t>
            </a:r>
          </a:p>
        </p:txBody>
      </p:sp>
      <p:grpSp>
        <p:nvGrpSpPr>
          <p:cNvPr id="22" name="Group 22"/>
          <p:cNvGrpSpPr/>
          <p:nvPr/>
        </p:nvGrpSpPr>
        <p:grpSpPr>
          <a:xfrm>
            <a:off x="1785938" y="4369070"/>
            <a:ext cx="457200" cy="457200"/>
            <a:chOff x="0" y="0"/>
            <a:chExt cx="609600" cy="609600"/>
          </a:xfrm>
        </p:grpSpPr>
        <p:sp>
          <p:nvSpPr>
            <p:cNvPr id="23" name="Freeform 23"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0"/>
              <a:stretch>
                <a:fillRect b="-3125"/>
              </a:stretch>
            </a:blipFill>
          </p:spPr>
        </p:sp>
      </p:grpSp>
      <p:grpSp>
        <p:nvGrpSpPr>
          <p:cNvPr id="24" name="Group 24"/>
          <p:cNvGrpSpPr/>
          <p:nvPr/>
        </p:nvGrpSpPr>
        <p:grpSpPr>
          <a:xfrm>
            <a:off x="7210501" y="4369070"/>
            <a:ext cx="514350" cy="457200"/>
            <a:chOff x="0" y="0"/>
            <a:chExt cx="685800" cy="609600"/>
          </a:xfrm>
        </p:grpSpPr>
        <p:sp>
          <p:nvSpPr>
            <p:cNvPr id="25" name="Freeform 25" descr="image.png"/>
            <p:cNvSpPr/>
            <p:nvPr/>
          </p:nvSpPr>
          <p:spPr>
            <a:xfrm>
              <a:off x="0" y="0"/>
              <a:ext cx="685800" cy="609600"/>
            </a:xfrm>
            <a:custGeom>
              <a:avLst/>
              <a:gdLst/>
              <a:ahLst/>
              <a:cxnLst/>
              <a:rect l="l" t="t" r="r" b="b"/>
              <a:pathLst>
                <a:path w="685800" h="609600">
                  <a:moveTo>
                    <a:pt x="0" y="0"/>
                  </a:moveTo>
                  <a:lnTo>
                    <a:pt x="685800" y="0"/>
                  </a:lnTo>
                  <a:lnTo>
                    <a:pt x="685800" y="609600"/>
                  </a:lnTo>
                  <a:lnTo>
                    <a:pt x="0" y="609600"/>
                  </a:lnTo>
                  <a:lnTo>
                    <a:pt x="0" y="0"/>
                  </a:lnTo>
                  <a:close/>
                </a:path>
              </a:pathLst>
            </a:custGeom>
            <a:blipFill>
              <a:blip r:embed="rId11"/>
              <a:stretch>
                <a:fillRect b="-337"/>
              </a:stretch>
            </a:blipFill>
          </p:spPr>
        </p:sp>
      </p:grpSp>
      <p:grpSp>
        <p:nvGrpSpPr>
          <p:cNvPr id="26" name="Group 26"/>
          <p:cNvGrpSpPr/>
          <p:nvPr/>
        </p:nvGrpSpPr>
        <p:grpSpPr>
          <a:xfrm>
            <a:off x="12692215" y="4369070"/>
            <a:ext cx="457200" cy="457200"/>
            <a:chOff x="0" y="0"/>
            <a:chExt cx="609600" cy="609600"/>
          </a:xfrm>
        </p:grpSpPr>
        <p:sp>
          <p:nvSpPr>
            <p:cNvPr id="27" name="Freeform 27"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2"/>
              <a:stretch>
                <a:fillRect/>
              </a:stretch>
            </a:blipFill>
          </p:spPr>
        </p:sp>
      </p:grpSp>
      <p:grpSp>
        <p:nvGrpSpPr>
          <p:cNvPr id="28" name="Group 28"/>
          <p:cNvGrpSpPr/>
          <p:nvPr/>
        </p:nvGrpSpPr>
        <p:grpSpPr>
          <a:xfrm>
            <a:off x="1143000" y="857250"/>
            <a:ext cx="16802100" cy="651424"/>
            <a:chOff x="0" y="0"/>
            <a:chExt cx="22402800" cy="868566"/>
          </a:xfrm>
        </p:grpSpPr>
        <p:sp>
          <p:nvSpPr>
            <p:cNvPr id="29" name="Freeform 29"/>
            <p:cNvSpPr/>
            <p:nvPr/>
          </p:nvSpPr>
          <p:spPr>
            <a:xfrm>
              <a:off x="0" y="0"/>
              <a:ext cx="22402800" cy="868560"/>
            </a:xfrm>
            <a:custGeom>
              <a:avLst/>
              <a:gdLst/>
              <a:ahLst/>
              <a:cxnLst/>
              <a:rect l="l" t="t" r="r" b="b"/>
              <a:pathLst>
                <a:path w="22402800" h="868560">
                  <a:moveTo>
                    <a:pt x="0" y="0"/>
                  </a:moveTo>
                  <a:lnTo>
                    <a:pt x="22402800" y="0"/>
                  </a:lnTo>
                  <a:lnTo>
                    <a:pt x="22402800" y="868560"/>
                  </a:lnTo>
                  <a:lnTo>
                    <a:pt x="0" y="868560"/>
                  </a:lnTo>
                  <a:close/>
                </a:path>
              </a:pathLst>
            </a:custGeom>
            <a:blipFill>
              <a:blip r:embed="rId13">
                <a:alphaModFix amt="0"/>
              </a:blip>
              <a:stretch>
                <a:fillRect t="-452577" b="-452578"/>
              </a:stretch>
            </a:blipFill>
          </p:spPr>
        </p:sp>
        <p:sp>
          <p:nvSpPr>
            <p:cNvPr id="30" name="TextBox 30"/>
            <p:cNvSpPr txBox="1"/>
            <p:nvPr/>
          </p:nvSpPr>
          <p:spPr>
            <a:xfrm>
              <a:off x="0" y="-95250"/>
              <a:ext cx="22402800" cy="963816"/>
            </a:xfrm>
            <a:prstGeom prst="rect">
              <a:avLst/>
            </a:prstGeom>
          </p:spPr>
          <p:txBody>
            <a:bodyPr lIns="0" tIns="0" rIns="0" bIns="0" rtlCol="0" anchor="ctr"/>
            <a:lstStyle/>
            <a:p>
              <a:pPr algn="l">
                <a:lnSpc>
                  <a:spcPts val="6155"/>
                </a:lnSpc>
              </a:pPr>
              <a:r>
                <a:rPr lang="en-US" sz="4275">
                  <a:solidFill>
                    <a:srgbClr val="0F172A"/>
                  </a:solidFill>
                  <a:latin typeface="Cinema Outfit"/>
                  <a:ea typeface="Cinema Outfit"/>
                  <a:cs typeface="Cinema Outfit"/>
                  <a:sym typeface="Cinema Outfit"/>
                </a:rPr>
                <a:t>Key Core Functionalities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143000" y="3876151"/>
            <a:ext cx="6115050" cy="3614738"/>
            <a:chOff x="0" y="0"/>
            <a:chExt cx="8153400" cy="4819650"/>
          </a:xfrm>
        </p:grpSpPr>
        <p:sp>
          <p:nvSpPr>
            <p:cNvPr id="5" name="Freeform 5" descr="image.png"/>
            <p:cNvSpPr/>
            <p:nvPr/>
          </p:nvSpPr>
          <p:spPr>
            <a:xfrm>
              <a:off x="0" y="0"/>
              <a:ext cx="8153400" cy="4819650"/>
            </a:xfrm>
            <a:custGeom>
              <a:avLst/>
              <a:gdLst/>
              <a:ahLst/>
              <a:cxnLst/>
              <a:rect l="l" t="t" r="r" b="b"/>
              <a:pathLst>
                <a:path w="8153400" h="4819650">
                  <a:moveTo>
                    <a:pt x="0" y="0"/>
                  </a:moveTo>
                  <a:lnTo>
                    <a:pt x="8153400" y="0"/>
                  </a:lnTo>
                  <a:lnTo>
                    <a:pt x="8153400" y="4819650"/>
                  </a:lnTo>
                  <a:lnTo>
                    <a:pt x="0" y="4819650"/>
                  </a:lnTo>
                  <a:lnTo>
                    <a:pt x="0" y="0"/>
                  </a:lnTo>
                  <a:close/>
                </a:path>
              </a:pathLst>
            </a:custGeom>
            <a:blipFill>
              <a:blip r:embed="rId4"/>
              <a:stretch>
                <a:fillRect b="-395"/>
              </a:stretch>
            </a:blipFill>
          </p:spPr>
        </p:sp>
      </p:grpSp>
      <p:sp>
        <p:nvSpPr>
          <p:cNvPr id="6" name="TextBox 6"/>
          <p:cNvSpPr txBox="1"/>
          <p:nvPr/>
        </p:nvSpPr>
        <p:spPr>
          <a:xfrm>
            <a:off x="1728788" y="4395264"/>
            <a:ext cx="4943475" cy="2066925"/>
          </a:xfrm>
          <a:prstGeom prst="rect">
            <a:avLst/>
          </a:prstGeom>
        </p:spPr>
        <p:txBody>
          <a:bodyPr lIns="0" tIns="0" rIns="0" bIns="0" rtlCol="0" anchor="t">
            <a:spAutoFit/>
          </a:bodyPr>
          <a:lstStyle/>
          <a:p>
            <a:pPr algn="ctr">
              <a:lnSpc>
                <a:spcPts val="18900"/>
              </a:lnSpc>
            </a:pPr>
            <a:r>
              <a:rPr lang="en-US" sz="15750">
                <a:solidFill>
                  <a:srgbClr val="0D9488"/>
                </a:solidFill>
                <a:latin typeface="Arimo"/>
                <a:ea typeface="Arimo"/>
                <a:cs typeface="Arimo"/>
                <a:sym typeface="Arimo"/>
              </a:rPr>
              <a:t>5</a:t>
            </a:r>
          </a:p>
        </p:txBody>
      </p:sp>
      <p:sp>
        <p:nvSpPr>
          <p:cNvPr id="7" name="TextBox 7"/>
          <p:cNvSpPr txBox="1"/>
          <p:nvPr/>
        </p:nvSpPr>
        <p:spPr>
          <a:xfrm>
            <a:off x="1728788" y="6595539"/>
            <a:ext cx="4943475" cy="309563"/>
          </a:xfrm>
          <a:prstGeom prst="rect">
            <a:avLst/>
          </a:prstGeom>
        </p:spPr>
        <p:txBody>
          <a:bodyPr lIns="0" tIns="0" rIns="0" bIns="0" rtlCol="0" anchor="t">
            <a:spAutoFit/>
          </a:bodyPr>
          <a:lstStyle/>
          <a:p>
            <a:pPr algn="ctr">
              <a:lnSpc>
                <a:spcPts val="2430"/>
              </a:lnSpc>
            </a:pPr>
            <a:r>
              <a:rPr lang="en-US" sz="2025">
                <a:solidFill>
                  <a:srgbClr val="475569"/>
                </a:solidFill>
                <a:latin typeface="Inter"/>
                <a:ea typeface="Inter"/>
                <a:cs typeface="Inter"/>
                <a:sym typeface="Inter"/>
              </a:rPr>
              <a:t>STATUS STATES</a:t>
            </a:r>
          </a:p>
        </p:txBody>
      </p:sp>
      <p:sp>
        <p:nvSpPr>
          <p:cNvPr id="8" name="TextBox 8"/>
          <p:cNvSpPr txBox="1"/>
          <p:nvPr/>
        </p:nvSpPr>
        <p:spPr>
          <a:xfrm>
            <a:off x="7972425" y="3591449"/>
            <a:ext cx="9631204" cy="556174"/>
          </a:xfrm>
          <a:prstGeom prst="rect">
            <a:avLst/>
          </a:prstGeom>
        </p:spPr>
        <p:txBody>
          <a:bodyPr lIns="0" tIns="0" rIns="0" bIns="0" rtlCol="0" anchor="t">
            <a:spAutoFit/>
          </a:bodyPr>
          <a:lstStyle/>
          <a:p>
            <a:pPr algn="l">
              <a:lnSpc>
                <a:spcPts val="4536"/>
              </a:lnSpc>
            </a:pPr>
            <a:r>
              <a:rPr lang="en-US" sz="3150">
                <a:solidFill>
                  <a:srgbClr val="0F172A"/>
                </a:solidFill>
                <a:latin typeface="Cinema Outfit"/>
                <a:ea typeface="Cinema Outfit"/>
                <a:cs typeface="Cinema Outfit"/>
                <a:sym typeface="Cinema Outfit"/>
              </a:rPr>
              <a:t>Translating Data into Utility</a:t>
            </a:r>
          </a:p>
        </p:txBody>
      </p:sp>
      <p:sp>
        <p:nvSpPr>
          <p:cNvPr id="9" name="TextBox 9"/>
          <p:cNvSpPr txBox="1"/>
          <p:nvPr/>
        </p:nvSpPr>
        <p:spPr>
          <a:xfrm>
            <a:off x="7972425" y="4219051"/>
            <a:ext cx="9172575" cy="965749"/>
          </a:xfrm>
          <a:prstGeom prst="rect">
            <a:avLst/>
          </a:prstGeom>
        </p:spPr>
        <p:txBody>
          <a:bodyPr lIns="0" tIns="0" rIns="0" bIns="0" rtlCol="0" anchor="t">
            <a:spAutoFit/>
          </a:bodyPr>
          <a:lstStyle/>
          <a:p>
            <a:pPr algn="l">
              <a:lnSpc>
                <a:spcPts val="3887"/>
              </a:lnSpc>
            </a:pPr>
            <a:r>
              <a:rPr lang="en-US" sz="2025">
                <a:solidFill>
                  <a:srgbClr val="475569"/>
                </a:solidFill>
                <a:latin typeface="Inter"/>
                <a:ea typeface="Inter"/>
                <a:cs typeface="Inter"/>
                <a:sym typeface="Inter"/>
              </a:rPr>
              <a:t>Raw lab metrics are highly messy. The pipeline parses values and classifies them to make claims clinically actionable.</a:t>
            </a:r>
          </a:p>
        </p:txBody>
      </p:sp>
      <p:sp>
        <p:nvSpPr>
          <p:cNvPr id="10" name="TextBox 10"/>
          <p:cNvSpPr txBox="1"/>
          <p:nvPr/>
        </p:nvSpPr>
        <p:spPr>
          <a:xfrm>
            <a:off x="8472488" y="5356250"/>
            <a:ext cx="8672512" cy="842962"/>
          </a:xfrm>
          <a:prstGeom prst="rect">
            <a:avLst/>
          </a:prstGeom>
        </p:spPr>
        <p:txBody>
          <a:bodyPr lIns="0" tIns="0" rIns="0" bIns="0" rtlCol="0" anchor="t">
            <a:spAutoFit/>
          </a:bodyPr>
          <a:lstStyle/>
          <a:p>
            <a:pPr algn="l">
              <a:lnSpc>
                <a:spcPts val="3441"/>
              </a:lnSpc>
            </a:pPr>
            <a:r>
              <a:rPr lang="en-US" sz="1912" b="1">
                <a:solidFill>
                  <a:srgbClr val="334155"/>
                </a:solidFill>
                <a:latin typeface="Inter Bold"/>
                <a:ea typeface="Inter Bold"/>
                <a:cs typeface="Inter Bold"/>
                <a:sym typeface="Inter Bold"/>
              </a:rPr>
              <a:t>Within / Out of Range:</a:t>
            </a:r>
            <a:r>
              <a:rPr lang="en-US" sz="1912">
                <a:solidFill>
                  <a:srgbClr val="334155"/>
                </a:solidFill>
                <a:latin typeface="Inter"/>
                <a:ea typeface="Inter"/>
                <a:cs typeface="Inter"/>
                <a:sym typeface="Inter"/>
              </a:rPr>
              <a:t> Maps results cleanly to predefined healthy boundaries.</a:t>
            </a:r>
          </a:p>
        </p:txBody>
      </p:sp>
      <p:sp>
        <p:nvSpPr>
          <p:cNvPr id="11" name="TextBox 11"/>
          <p:cNvSpPr txBox="1"/>
          <p:nvPr/>
        </p:nvSpPr>
        <p:spPr>
          <a:xfrm>
            <a:off x="8472488" y="6342088"/>
            <a:ext cx="8672512" cy="478631"/>
          </a:xfrm>
          <a:prstGeom prst="rect">
            <a:avLst/>
          </a:prstGeom>
        </p:spPr>
        <p:txBody>
          <a:bodyPr lIns="0" tIns="0" rIns="0" bIns="0" rtlCol="0" anchor="t">
            <a:spAutoFit/>
          </a:bodyPr>
          <a:lstStyle/>
          <a:p>
            <a:pPr algn="l">
              <a:lnSpc>
                <a:spcPts val="3441"/>
              </a:lnSpc>
            </a:pPr>
            <a:r>
              <a:rPr lang="en-US" sz="1912" b="1">
                <a:solidFill>
                  <a:srgbClr val="334155"/>
                </a:solidFill>
                <a:latin typeface="Inter Bold"/>
                <a:ea typeface="Inter Bold"/>
                <a:cs typeface="Inter Bold"/>
                <a:sym typeface="Inter Bold"/>
              </a:rPr>
              <a:t>Extreme Outliers:</a:t>
            </a:r>
            <a:r>
              <a:rPr lang="en-US" sz="1912">
                <a:solidFill>
                  <a:srgbClr val="334155"/>
                </a:solidFill>
                <a:latin typeface="Inter"/>
                <a:ea typeface="Inter"/>
                <a:cs typeface="Inter"/>
                <a:sym typeface="Inter"/>
              </a:rPr>
              <a:t> Signals highly anomalous results for critical review.</a:t>
            </a:r>
          </a:p>
        </p:txBody>
      </p:sp>
      <p:sp>
        <p:nvSpPr>
          <p:cNvPr id="12" name="TextBox 12"/>
          <p:cNvSpPr txBox="1"/>
          <p:nvPr/>
        </p:nvSpPr>
        <p:spPr>
          <a:xfrm>
            <a:off x="8472488" y="6963594"/>
            <a:ext cx="8672512" cy="478631"/>
          </a:xfrm>
          <a:prstGeom prst="rect">
            <a:avLst/>
          </a:prstGeom>
        </p:spPr>
        <p:txBody>
          <a:bodyPr lIns="0" tIns="0" rIns="0" bIns="0" rtlCol="0" anchor="t">
            <a:spAutoFit/>
          </a:bodyPr>
          <a:lstStyle/>
          <a:p>
            <a:pPr algn="l">
              <a:lnSpc>
                <a:spcPts val="3441"/>
              </a:lnSpc>
            </a:pPr>
            <a:r>
              <a:rPr lang="en-US" sz="1912" b="1">
                <a:solidFill>
                  <a:srgbClr val="334155"/>
                </a:solidFill>
                <a:latin typeface="Inter Bold"/>
                <a:ea typeface="Inter Bold"/>
                <a:cs typeface="Inter Bold"/>
                <a:sym typeface="Inter Bold"/>
              </a:rPr>
              <a:t>Invalid / Non-Numeric:</a:t>
            </a:r>
            <a:r>
              <a:rPr lang="en-US" sz="1912">
                <a:solidFill>
                  <a:srgbClr val="334155"/>
                </a:solidFill>
                <a:latin typeface="Inter"/>
                <a:ea typeface="Inter"/>
                <a:cs typeface="Inter"/>
                <a:sym typeface="Inter"/>
              </a:rPr>
              <a:t> Filters corrupt formats for data-hygiene safety.</a:t>
            </a:r>
          </a:p>
        </p:txBody>
      </p:sp>
      <p:grpSp>
        <p:nvGrpSpPr>
          <p:cNvPr id="13" name="Group 13"/>
          <p:cNvGrpSpPr/>
          <p:nvPr/>
        </p:nvGrpSpPr>
        <p:grpSpPr>
          <a:xfrm>
            <a:off x="7972425" y="5506269"/>
            <a:ext cx="257175" cy="300038"/>
            <a:chOff x="0" y="0"/>
            <a:chExt cx="342900" cy="400050"/>
          </a:xfrm>
        </p:grpSpPr>
        <p:sp>
          <p:nvSpPr>
            <p:cNvPr id="14" name="Freeform 14" descr="image.png"/>
            <p:cNvSpPr/>
            <p:nvPr/>
          </p:nvSpPr>
          <p:spPr>
            <a:xfrm>
              <a:off x="0" y="0"/>
              <a:ext cx="342900" cy="400050"/>
            </a:xfrm>
            <a:custGeom>
              <a:avLst/>
              <a:gdLst/>
              <a:ahLst/>
              <a:cxnLst/>
              <a:rect l="l" t="t" r="r" b="b"/>
              <a:pathLst>
                <a:path w="342900" h="400050">
                  <a:moveTo>
                    <a:pt x="0" y="0"/>
                  </a:moveTo>
                  <a:lnTo>
                    <a:pt x="342900" y="0"/>
                  </a:lnTo>
                  <a:lnTo>
                    <a:pt x="342900" y="400050"/>
                  </a:lnTo>
                  <a:lnTo>
                    <a:pt x="0" y="400050"/>
                  </a:lnTo>
                  <a:lnTo>
                    <a:pt x="0" y="0"/>
                  </a:lnTo>
                  <a:close/>
                </a:path>
              </a:pathLst>
            </a:custGeom>
            <a:blipFill>
              <a:blip r:embed="rId5"/>
              <a:stretch>
                <a:fillRect/>
              </a:stretch>
            </a:blipFill>
          </p:spPr>
        </p:sp>
      </p:grpSp>
      <p:grpSp>
        <p:nvGrpSpPr>
          <p:cNvPr id="15" name="Group 15"/>
          <p:cNvGrpSpPr/>
          <p:nvPr/>
        </p:nvGrpSpPr>
        <p:grpSpPr>
          <a:xfrm>
            <a:off x="7972425" y="6492107"/>
            <a:ext cx="328612" cy="300038"/>
            <a:chOff x="0" y="0"/>
            <a:chExt cx="438150" cy="400050"/>
          </a:xfrm>
        </p:grpSpPr>
        <p:sp>
          <p:nvSpPr>
            <p:cNvPr id="16" name="Freeform 16" descr="image.png"/>
            <p:cNvSpPr/>
            <p:nvPr/>
          </p:nvSpPr>
          <p:spPr>
            <a:xfrm>
              <a:off x="0" y="0"/>
              <a:ext cx="438150" cy="400050"/>
            </a:xfrm>
            <a:custGeom>
              <a:avLst/>
              <a:gdLst/>
              <a:ahLst/>
              <a:cxnLst/>
              <a:rect l="l" t="t" r="r" b="b"/>
              <a:pathLst>
                <a:path w="438150" h="400050">
                  <a:moveTo>
                    <a:pt x="0" y="0"/>
                  </a:moveTo>
                  <a:lnTo>
                    <a:pt x="438150" y="0"/>
                  </a:lnTo>
                  <a:lnTo>
                    <a:pt x="438150" y="400050"/>
                  </a:lnTo>
                  <a:lnTo>
                    <a:pt x="0" y="400050"/>
                  </a:lnTo>
                  <a:lnTo>
                    <a:pt x="0" y="0"/>
                  </a:lnTo>
                  <a:close/>
                </a:path>
              </a:pathLst>
            </a:custGeom>
            <a:blipFill>
              <a:blip r:embed="rId6"/>
              <a:stretch>
                <a:fillRect/>
              </a:stretch>
            </a:blipFill>
          </p:spPr>
        </p:sp>
      </p:grpSp>
      <p:grpSp>
        <p:nvGrpSpPr>
          <p:cNvPr id="17" name="Group 17"/>
          <p:cNvGrpSpPr/>
          <p:nvPr/>
        </p:nvGrpSpPr>
        <p:grpSpPr>
          <a:xfrm>
            <a:off x="7972425" y="7113613"/>
            <a:ext cx="285750" cy="300038"/>
            <a:chOff x="0" y="0"/>
            <a:chExt cx="381000" cy="400050"/>
          </a:xfrm>
        </p:grpSpPr>
        <p:sp>
          <p:nvSpPr>
            <p:cNvPr id="18" name="Freeform 18" descr="image.png"/>
            <p:cNvSpPr/>
            <p:nvPr/>
          </p:nvSpPr>
          <p:spPr>
            <a:xfrm>
              <a:off x="0" y="0"/>
              <a:ext cx="381000" cy="400050"/>
            </a:xfrm>
            <a:custGeom>
              <a:avLst/>
              <a:gdLst/>
              <a:ahLst/>
              <a:cxnLst/>
              <a:rect l="l" t="t" r="r" b="b"/>
              <a:pathLst>
                <a:path w="381000" h="400050">
                  <a:moveTo>
                    <a:pt x="0" y="0"/>
                  </a:moveTo>
                  <a:lnTo>
                    <a:pt x="381000" y="0"/>
                  </a:lnTo>
                  <a:lnTo>
                    <a:pt x="381000" y="400050"/>
                  </a:lnTo>
                  <a:lnTo>
                    <a:pt x="0" y="400050"/>
                  </a:lnTo>
                  <a:lnTo>
                    <a:pt x="0" y="0"/>
                  </a:lnTo>
                  <a:close/>
                </a:path>
              </a:pathLst>
            </a:custGeom>
            <a:blipFill>
              <a:blip r:embed="rId7"/>
              <a:stretch>
                <a:fillRect/>
              </a:stretch>
            </a:blipFill>
          </p:spPr>
        </p:sp>
      </p:grpSp>
      <p:grpSp>
        <p:nvGrpSpPr>
          <p:cNvPr id="19" name="Group 19"/>
          <p:cNvGrpSpPr/>
          <p:nvPr/>
        </p:nvGrpSpPr>
        <p:grpSpPr>
          <a:xfrm>
            <a:off x="1143000" y="857250"/>
            <a:ext cx="16802100" cy="651424"/>
            <a:chOff x="0" y="0"/>
            <a:chExt cx="22402800" cy="868566"/>
          </a:xfrm>
        </p:grpSpPr>
        <p:sp>
          <p:nvSpPr>
            <p:cNvPr id="20" name="Freeform 20"/>
            <p:cNvSpPr/>
            <p:nvPr/>
          </p:nvSpPr>
          <p:spPr>
            <a:xfrm>
              <a:off x="0" y="0"/>
              <a:ext cx="22402800" cy="868560"/>
            </a:xfrm>
            <a:custGeom>
              <a:avLst/>
              <a:gdLst/>
              <a:ahLst/>
              <a:cxnLst/>
              <a:rect l="l" t="t" r="r" b="b"/>
              <a:pathLst>
                <a:path w="22402800" h="868560">
                  <a:moveTo>
                    <a:pt x="0" y="0"/>
                  </a:moveTo>
                  <a:lnTo>
                    <a:pt x="22402800" y="0"/>
                  </a:lnTo>
                  <a:lnTo>
                    <a:pt x="22402800" y="868560"/>
                  </a:lnTo>
                  <a:lnTo>
                    <a:pt x="0" y="868560"/>
                  </a:lnTo>
                  <a:close/>
                </a:path>
              </a:pathLst>
            </a:custGeom>
            <a:blipFill>
              <a:blip r:embed="rId8">
                <a:alphaModFix amt="0"/>
              </a:blip>
              <a:stretch>
                <a:fillRect t="-452577" b="-452578"/>
              </a:stretch>
            </a:blipFill>
          </p:spPr>
        </p:sp>
        <p:sp>
          <p:nvSpPr>
            <p:cNvPr id="21" name="TextBox 21"/>
            <p:cNvSpPr txBox="1"/>
            <p:nvPr/>
          </p:nvSpPr>
          <p:spPr>
            <a:xfrm>
              <a:off x="0" y="-95250"/>
              <a:ext cx="22402800" cy="963816"/>
            </a:xfrm>
            <a:prstGeom prst="rect">
              <a:avLst/>
            </a:prstGeom>
          </p:spPr>
          <p:txBody>
            <a:bodyPr lIns="0" tIns="0" rIns="0" bIns="0" rtlCol="0" anchor="ctr"/>
            <a:lstStyle/>
            <a:p>
              <a:pPr algn="l">
                <a:lnSpc>
                  <a:spcPts val="6155"/>
                </a:lnSpc>
              </a:pPr>
              <a:r>
                <a:rPr lang="en-US" sz="4275">
                  <a:solidFill>
                    <a:srgbClr val="0F172A"/>
                  </a:solidFill>
                  <a:latin typeface="Cinema Outfit"/>
                  <a:ea typeface="Cinema Outfit"/>
                  <a:cs typeface="Cinema Outfit"/>
                  <a:sym typeface="Cinema Outfit"/>
                </a:rPr>
                <a:t>Semantic Test Classification</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143000" y="2976039"/>
            <a:ext cx="16002000" cy="5414962"/>
            <a:chOff x="0" y="0"/>
            <a:chExt cx="21336000" cy="7219950"/>
          </a:xfrm>
        </p:grpSpPr>
        <p:sp>
          <p:nvSpPr>
            <p:cNvPr id="5" name="Freeform 5" descr="image.png"/>
            <p:cNvSpPr/>
            <p:nvPr/>
          </p:nvSpPr>
          <p:spPr>
            <a:xfrm>
              <a:off x="0" y="0"/>
              <a:ext cx="21336000" cy="7219950"/>
            </a:xfrm>
            <a:custGeom>
              <a:avLst/>
              <a:gdLst/>
              <a:ahLst/>
              <a:cxnLst/>
              <a:rect l="l" t="t" r="r" b="b"/>
              <a:pathLst>
                <a:path w="21336000" h="7219950">
                  <a:moveTo>
                    <a:pt x="0" y="0"/>
                  </a:moveTo>
                  <a:lnTo>
                    <a:pt x="21336000" y="0"/>
                  </a:lnTo>
                  <a:lnTo>
                    <a:pt x="21336000" y="7219950"/>
                  </a:lnTo>
                  <a:lnTo>
                    <a:pt x="0" y="7219950"/>
                  </a:lnTo>
                  <a:lnTo>
                    <a:pt x="0" y="0"/>
                  </a:lnTo>
                  <a:close/>
                </a:path>
              </a:pathLst>
            </a:custGeom>
            <a:blipFill>
              <a:blip r:embed="rId4"/>
              <a:stretch>
                <a:fillRect b="-263"/>
              </a:stretch>
            </a:blipFill>
          </p:spPr>
        </p:sp>
      </p:grpSp>
      <p:graphicFrame>
        <p:nvGraphicFramePr>
          <p:cNvPr id="6" name="Table 6"/>
          <p:cNvGraphicFramePr>
            <a:graphicFrameLocks noGrp="1"/>
          </p:cNvGraphicFramePr>
          <p:nvPr/>
        </p:nvGraphicFramePr>
        <p:xfrm>
          <a:off x="1157288" y="2990328"/>
          <a:ext cx="15944850" cy="5334000"/>
        </p:xfrm>
        <a:graphic>
          <a:graphicData uri="http://schemas.openxmlformats.org/drawingml/2006/table">
            <a:tbl>
              <a:tblPr/>
              <a:tblGrid>
                <a:gridCol w="2661391">
                  <a:extLst>
                    <a:ext uri="{9D8B030D-6E8A-4147-A177-3AD203B41FA5}">
                      <a16:colId xmlns:a16="http://schemas.microsoft.com/office/drawing/2014/main" val="20000"/>
                    </a:ext>
                  </a:extLst>
                </a:gridCol>
                <a:gridCol w="2845136">
                  <a:extLst>
                    <a:ext uri="{9D8B030D-6E8A-4147-A177-3AD203B41FA5}">
                      <a16:colId xmlns:a16="http://schemas.microsoft.com/office/drawing/2014/main" val="20001"/>
                    </a:ext>
                  </a:extLst>
                </a:gridCol>
                <a:gridCol w="10438323">
                  <a:extLst>
                    <a:ext uri="{9D8B030D-6E8A-4147-A177-3AD203B41FA5}">
                      <a16:colId xmlns:a16="http://schemas.microsoft.com/office/drawing/2014/main" val="20002"/>
                    </a:ext>
                  </a:extLst>
                </a:gridCol>
              </a:tblGrid>
              <a:tr h="1066800">
                <a:tc>
                  <a:txBody>
                    <a:bodyPr/>
                    <a:lstStyle/>
                    <a:p>
                      <a:pPr algn="l">
                        <a:lnSpc>
                          <a:spcPts val="2160"/>
                        </a:lnSpc>
                        <a:defRPr/>
                      </a:pPr>
                      <a:r>
                        <a:rPr lang="en-US" sz="1800">
                          <a:solidFill>
                            <a:srgbClr val="0F172A"/>
                          </a:solidFill>
                          <a:latin typeface="Cinema Outfit"/>
                          <a:ea typeface="Cinema Outfit"/>
                          <a:cs typeface="Cinema Outfit"/>
                          <a:sym typeface="Cinema Outfit"/>
                        </a:rPr>
                        <a:t>Architecture Layer</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1F5F9"/>
                    </a:solidFill>
                  </a:tcPr>
                </a:tc>
                <a:tc>
                  <a:txBody>
                    <a:bodyPr/>
                    <a:lstStyle/>
                    <a:p>
                      <a:pPr algn="l">
                        <a:lnSpc>
                          <a:spcPts val="2160"/>
                        </a:lnSpc>
                        <a:defRPr/>
                      </a:pPr>
                      <a:r>
                        <a:rPr lang="en-US" sz="1800">
                          <a:solidFill>
                            <a:srgbClr val="0F172A"/>
                          </a:solidFill>
                          <a:latin typeface="Cinema Outfit"/>
                          <a:ea typeface="Cinema Outfit"/>
                          <a:cs typeface="Cinema Outfit"/>
                          <a:sym typeface="Cinema Outfit"/>
                        </a:rPr>
                        <a:t>Technology Chosen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1F5F9"/>
                    </a:solidFill>
                  </a:tcPr>
                </a:tc>
                <a:tc>
                  <a:txBody>
                    <a:bodyPr/>
                    <a:lstStyle/>
                    <a:p>
                      <a:pPr algn="l">
                        <a:lnSpc>
                          <a:spcPts val="2160"/>
                        </a:lnSpc>
                        <a:defRPr/>
                      </a:pPr>
                      <a:r>
                        <a:rPr lang="en-US" sz="1800">
                          <a:solidFill>
                            <a:srgbClr val="0F172A"/>
                          </a:solidFill>
                          <a:latin typeface="Cinema Outfit"/>
                          <a:ea typeface="Cinema Outfit"/>
                          <a:cs typeface="Cinema Outfit"/>
                          <a:sym typeface="Cinema Outfit"/>
                        </a:rPr>
                        <a:t>Role &amp; Architectural Objective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1066800">
                <a:tc>
                  <a:txBody>
                    <a:bodyPr/>
                    <a:lstStyle/>
                    <a:p>
                      <a:pPr algn="l">
                        <a:lnSpc>
                          <a:spcPts val="2025"/>
                        </a:lnSpc>
                        <a:defRPr/>
                      </a:pPr>
                      <a:r>
                        <a:rPr lang="en-US" sz="1687">
                          <a:solidFill>
                            <a:srgbClr val="0F172A"/>
                          </a:solidFill>
                          <a:latin typeface="Inter"/>
                          <a:ea typeface="Inter"/>
                          <a:cs typeface="Inter"/>
                          <a:sym typeface="Inter"/>
                        </a:rPr>
                        <a:t>Core Language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Python (OOPS)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Handles data extraction logic, validations, dictionary mapping, and overall ingestion control loops.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66800">
                <a:tc>
                  <a:txBody>
                    <a:bodyPr/>
                    <a:lstStyle/>
                    <a:p>
                      <a:pPr algn="l">
                        <a:lnSpc>
                          <a:spcPts val="2025"/>
                        </a:lnSpc>
                        <a:defRPr/>
                      </a:pPr>
                      <a:r>
                        <a:rPr lang="en-US" sz="1687">
                          <a:solidFill>
                            <a:srgbClr val="0F172A"/>
                          </a:solidFill>
                          <a:latin typeface="Inter"/>
                          <a:ea typeface="Inter"/>
                          <a:cs typeface="Inter"/>
                          <a:sym typeface="Inter"/>
                        </a:rPr>
                        <a:t>API Layer</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FastAPI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Exposes asynchronous triggers to programmatically start validation tasks and fetch normalized dataset states.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66800">
                <a:tc>
                  <a:txBody>
                    <a:bodyPr/>
                    <a:lstStyle/>
                    <a:p>
                      <a:pPr algn="l">
                        <a:lnSpc>
                          <a:spcPts val="2025"/>
                        </a:lnSpc>
                        <a:defRPr/>
                      </a:pPr>
                      <a:r>
                        <a:rPr lang="en-US" sz="1687">
                          <a:solidFill>
                            <a:srgbClr val="0F172A"/>
                          </a:solidFill>
                          <a:latin typeface="Inter"/>
                          <a:ea typeface="Inter"/>
                          <a:cs typeface="Inter"/>
                          <a:sym typeface="Inter"/>
                        </a:rPr>
                        <a:t>Data Store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SQLite3</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Offers transactional database storage with structured indexing, optimized for fast and local validation runs.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66800">
                <a:tc>
                  <a:txBody>
                    <a:bodyPr/>
                    <a:lstStyle/>
                    <a:p>
                      <a:pPr algn="l">
                        <a:lnSpc>
                          <a:spcPts val="2025"/>
                        </a:lnSpc>
                        <a:defRPr/>
                      </a:pPr>
                      <a:r>
                        <a:rPr lang="en-US" sz="1687">
                          <a:solidFill>
                            <a:srgbClr val="0F172A"/>
                          </a:solidFill>
                          <a:latin typeface="Inter"/>
                          <a:ea typeface="Inter"/>
                          <a:cs typeface="Inter"/>
                          <a:sym typeface="Inter"/>
                        </a:rPr>
                        <a:t>Dashboard &amp; Charts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Streamlit &amp; Plotly</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lnSpc>
                          <a:spcPts val="2025"/>
                        </a:lnSpc>
                        <a:defRPr/>
                      </a:pPr>
                      <a:r>
                        <a:rPr lang="en-US" sz="1687">
                          <a:solidFill>
                            <a:srgbClr val="334155"/>
                          </a:solidFill>
                          <a:latin typeface="Inter"/>
                          <a:ea typeface="Inter"/>
                          <a:cs typeface="Inter"/>
                          <a:sym typeface="Inter"/>
                        </a:rPr>
                        <a:t>Empowers real-time quality control monitoring, analytical reports, and system pipeline volume distributions.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pSp>
        <p:nvGrpSpPr>
          <p:cNvPr id="7" name="Group 7"/>
          <p:cNvGrpSpPr/>
          <p:nvPr/>
        </p:nvGrpSpPr>
        <p:grpSpPr>
          <a:xfrm>
            <a:off x="1157288" y="4061889"/>
            <a:ext cx="2651893" cy="28575"/>
            <a:chOff x="0" y="0"/>
            <a:chExt cx="3535858" cy="38100"/>
          </a:xfrm>
        </p:grpSpPr>
        <p:sp>
          <p:nvSpPr>
            <p:cNvPr id="8" name="Freeform 8"/>
            <p:cNvSpPr/>
            <p:nvPr/>
          </p:nvSpPr>
          <p:spPr>
            <a:xfrm>
              <a:off x="0" y="0"/>
              <a:ext cx="3535807" cy="38100"/>
            </a:xfrm>
            <a:custGeom>
              <a:avLst/>
              <a:gdLst/>
              <a:ahLst/>
              <a:cxnLst/>
              <a:rect l="l" t="t" r="r" b="b"/>
              <a:pathLst>
                <a:path w="3535807" h="38100">
                  <a:moveTo>
                    <a:pt x="0" y="0"/>
                  </a:moveTo>
                  <a:lnTo>
                    <a:pt x="3535807" y="0"/>
                  </a:lnTo>
                  <a:lnTo>
                    <a:pt x="3535807" y="38100"/>
                  </a:lnTo>
                  <a:lnTo>
                    <a:pt x="0" y="38100"/>
                  </a:lnTo>
                  <a:close/>
                </a:path>
              </a:pathLst>
            </a:custGeom>
            <a:solidFill>
              <a:srgbClr val="CBD5E1"/>
            </a:solidFill>
          </p:spPr>
        </p:sp>
      </p:grpSp>
      <p:grpSp>
        <p:nvGrpSpPr>
          <p:cNvPr id="9" name="Group 9"/>
          <p:cNvGrpSpPr/>
          <p:nvPr/>
        </p:nvGrpSpPr>
        <p:grpSpPr>
          <a:xfrm>
            <a:off x="3809181" y="4061889"/>
            <a:ext cx="2836964" cy="28575"/>
            <a:chOff x="0" y="0"/>
            <a:chExt cx="3782619" cy="38100"/>
          </a:xfrm>
        </p:grpSpPr>
        <p:sp>
          <p:nvSpPr>
            <p:cNvPr id="10" name="Freeform 10"/>
            <p:cNvSpPr/>
            <p:nvPr/>
          </p:nvSpPr>
          <p:spPr>
            <a:xfrm>
              <a:off x="0" y="0"/>
              <a:ext cx="3782568" cy="38100"/>
            </a:xfrm>
            <a:custGeom>
              <a:avLst/>
              <a:gdLst/>
              <a:ahLst/>
              <a:cxnLst/>
              <a:rect l="l" t="t" r="r" b="b"/>
              <a:pathLst>
                <a:path w="3782568" h="38100">
                  <a:moveTo>
                    <a:pt x="0" y="0"/>
                  </a:moveTo>
                  <a:lnTo>
                    <a:pt x="3782568" y="0"/>
                  </a:lnTo>
                  <a:lnTo>
                    <a:pt x="3782568" y="38100"/>
                  </a:lnTo>
                  <a:lnTo>
                    <a:pt x="0" y="38100"/>
                  </a:lnTo>
                  <a:close/>
                </a:path>
              </a:pathLst>
            </a:custGeom>
            <a:solidFill>
              <a:srgbClr val="CBD5E1"/>
            </a:solidFill>
          </p:spPr>
        </p:sp>
      </p:grpSp>
      <p:grpSp>
        <p:nvGrpSpPr>
          <p:cNvPr id="11" name="Group 11"/>
          <p:cNvGrpSpPr/>
          <p:nvPr/>
        </p:nvGrpSpPr>
        <p:grpSpPr>
          <a:xfrm>
            <a:off x="6646145" y="4061889"/>
            <a:ext cx="10484568" cy="28575"/>
            <a:chOff x="0" y="0"/>
            <a:chExt cx="13979423" cy="38100"/>
          </a:xfrm>
        </p:grpSpPr>
        <p:sp>
          <p:nvSpPr>
            <p:cNvPr id="12" name="Freeform 12"/>
            <p:cNvSpPr/>
            <p:nvPr/>
          </p:nvSpPr>
          <p:spPr>
            <a:xfrm>
              <a:off x="0" y="0"/>
              <a:ext cx="13979398" cy="38100"/>
            </a:xfrm>
            <a:custGeom>
              <a:avLst/>
              <a:gdLst/>
              <a:ahLst/>
              <a:cxnLst/>
              <a:rect l="l" t="t" r="r" b="b"/>
              <a:pathLst>
                <a:path w="13979398" h="38100">
                  <a:moveTo>
                    <a:pt x="0" y="0"/>
                  </a:moveTo>
                  <a:lnTo>
                    <a:pt x="13979398" y="0"/>
                  </a:lnTo>
                  <a:lnTo>
                    <a:pt x="13979398" y="38100"/>
                  </a:lnTo>
                  <a:lnTo>
                    <a:pt x="0" y="38100"/>
                  </a:lnTo>
                  <a:close/>
                </a:path>
              </a:pathLst>
            </a:custGeom>
            <a:solidFill>
              <a:srgbClr val="CBD5E1"/>
            </a:solidFill>
          </p:spPr>
        </p:sp>
      </p:grpSp>
      <p:grpSp>
        <p:nvGrpSpPr>
          <p:cNvPr id="13" name="Group 13"/>
          <p:cNvGrpSpPr/>
          <p:nvPr/>
        </p:nvGrpSpPr>
        <p:grpSpPr>
          <a:xfrm>
            <a:off x="1157288" y="5154882"/>
            <a:ext cx="2651893" cy="14288"/>
            <a:chOff x="0" y="0"/>
            <a:chExt cx="3535858" cy="19050"/>
          </a:xfrm>
        </p:grpSpPr>
        <p:sp>
          <p:nvSpPr>
            <p:cNvPr id="14" name="Freeform 14"/>
            <p:cNvSpPr/>
            <p:nvPr/>
          </p:nvSpPr>
          <p:spPr>
            <a:xfrm>
              <a:off x="0" y="0"/>
              <a:ext cx="3535807" cy="19050"/>
            </a:xfrm>
            <a:custGeom>
              <a:avLst/>
              <a:gdLst/>
              <a:ahLst/>
              <a:cxnLst/>
              <a:rect l="l" t="t" r="r" b="b"/>
              <a:pathLst>
                <a:path w="3535807" h="19050">
                  <a:moveTo>
                    <a:pt x="0" y="0"/>
                  </a:moveTo>
                  <a:lnTo>
                    <a:pt x="3535807" y="0"/>
                  </a:lnTo>
                  <a:lnTo>
                    <a:pt x="3535807" y="19050"/>
                  </a:lnTo>
                  <a:lnTo>
                    <a:pt x="0" y="19050"/>
                  </a:lnTo>
                  <a:close/>
                </a:path>
              </a:pathLst>
            </a:custGeom>
            <a:solidFill>
              <a:srgbClr val="E2E8F0"/>
            </a:solidFill>
          </p:spPr>
        </p:sp>
      </p:grpSp>
      <p:grpSp>
        <p:nvGrpSpPr>
          <p:cNvPr id="15" name="Group 15"/>
          <p:cNvGrpSpPr/>
          <p:nvPr/>
        </p:nvGrpSpPr>
        <p:grpSpPr>
          <a:xfrm>
            <a:off x="3809181" y="5154882"/>
            <a:ext cx="2836964" cy="14288"/>
            <a:chOff x="0" y="0"/>
            <a:chExt cx="3782619" cy="19050"/>
          </a:xfrm>
        </p:grpSpPr>
        <p:sp>
          <p:nvSpPr>
            <p:cNvPr id="16" name="Freeform 16"/>
            <p:cNvSpPr/>
            <p:nvPr/>
          </p:nvSpPr>
          <p:spPr>
            <a:xfrm>
              <a:off x="0" y="0"/>
              <a:ext cx="3782568" cy="19050"/>
            </a:xfrm>
            <a:custGeom>
              <a:avLst/>
              <a:gdLst/>
              <a:ahLst/>
              <a:cxnLst/>
              <a:rect l="l" t="t" r="r" b="b"/>
              <a:pathLst>
                <a:path w="3782568" h="19050">
                  <a:moveTo>
                    <a:pt x="0" y="0"/>
                  </a:moveTo>
                  <a:lnTo>
                    <a:pt x="3782568" y="0"/>
                  </a:lnTo>
                  <a:lnTo>
                    <a:pt x="3782568" y="19050"/>
                  </a:lnTo>
                  <a:lnTo>
                    <a:pt x="0" y="19050"/>
                  </a:lnTo>
                  <a:close/>
                </a:path>
              </a:pathLst>
            </a:custGeom>
            <a:solidFill>
              <a:srgbClr val="E2E8F0"/>
            </a:solidFill>
          </p:spPr>
        </p:sp>
      </p:grpSp>
      <p:grpSp>
        <p:nvGrpSpPr>
          <p:cNvPr id="17" name="Group 17"/>
          <p:cNvGrpSpPr/>
          <p:nvPr/>
        </p:nvGrpSpPr>
        <p:grpSpPr>
          <a:xfrm>
            <a:off x="6646145" y="5154882"/>
            <a:ext cx="10484568" cy="14288"/>
            <a:chOff x="0" y="0"/>
            <a:chExt cx="13979423" cy="19050"/>
          </a:xfrm>
        </p:grpSpPr>
        <p:sp>
          <p:nvSpPr>
            <p:cNvPr id="18" name="Freeform 18"/>
            <p:cNvSpPr/>
            <p:nvPr/>
          </p:nvSpPr>
          <p:spPr>
            <a:xfrm>
              <a:off x="0" y="0"/>
              <a:ext cx="13979398" cy="19050"/>
            </a:xfrm>
            <a:custGeom>
              <a:avLst/>
              <a:gdLst/>
              <a:ahLst/>
              <a:cxnLst/>
              <a:rect l="l" t="t" r="r" b="b"/>
              <a:pathLst>
                <a:path w="13979398" h="19050">
                  <a:moveTo>
                    <a:pt x="0" y="0"/>
                  </a:moveTo>
                  <a:lnTo>
                    <a:pt x="13979398" y="0"/>
                  </a:lnTo>
                  <a:lnTo>
                    <a:pt x="13979398" y="19050"/>
                  </a:lnTo>
                  <a:lnTo>
                    <a:pt x="0" y="19050"/>
                  </a:lnTo>
                  <a:close/>
                </a:path>
              </a:pathLst>
            </a:custGeom>
            <a:solidFill>
              <a:srgbClr val="E2E8F0"/>
            </a:solidFill>
          </p:spPr>
        </p:sp>
      </p:grpSp>
      <p:grpSp>
        <p:nvGrpSpPr>
          <p:cNvPr id="19" name="Group 19"/>
          <p:cNvGrpSpPr/>
          <p:nvPr/>
        </p:nvGrpSpPr>
        <p:grpSpPr>
          <a:xfrm>
            <a:off x="1157288" y="6226445"/>
            <a:ext cx="2651893" cy="14288"/>
            <a:chOff x="0" y="0"/>
            <a:chExt cx="3535858" cy="19050"/>
          </a:xfrm>
        </p:grpSpPr>
        <p:sp>
          <p:nvSpPr>
            <p:cNvPr id="20" name="Freeform 20"/>
            <p:cNvSpPr/>
            <p:nvPr/>
          </p:nvSpPr>
          <p:spPr>
            <a:xfrm>
              <a:off x="0" y="0"/>
              <a:ext cx="3535807" cy="19050"/>
            </a:xfrm>
            <a:custGeom>
              <a:avLst/>
              <a:gdLst/>
              <a:ahLst/>
              <a:cxnLst/>
              <a:rect l="l" t="t" r="r" b="b"/>
              <a:pathLst>
                <a:path w="3535807" h="19050">
                  <a:moveTo>
                    <a:pt x="0" y="0"/>
                  </a:moveTo>
                  <a:lnTo>
                    <a:pt x="3535807" y="0"/>
                  </a:lnTo>
                  <a:lnTo>
                    <a:pt x="3535807" y="19050"/>
                  </a:lnTo>
                  <a:lnTo>
                    <a:pt x="0" y="19050"/>
                  </a:lnTo>
                  <a:close/>
                </a:path>
              </a:pathLst>
            </a:custGeom>
            <a:solidFill>
              <a:srgbClr val="E2E8F0"/>
            </a:solidFill>
          </p:spPr>
        </p:sp>
      </p:grpSp>
      <p:grpSp>
        <p:nvGrpSpPr>
          <p:cNvPr id="21" name="Group 21"/>
          <p:cNvGrpSpPr/>
          <p:nvPr/>
        </p:nvGrpSpPr>
        <p:grpSpPr>
          <a:xfrm>
            <a:off x="3809181" y="6226445"/>
            <a:ext cx="2836964" cy="14288"/>
            <a:chOff x="0" y="0"/>
            <a:chExt cx="3782619" cy="19050"/>
          </a:xfrm>
        </p:grpSpPr>
        <p:sp>
          <p:nvSpPr>
            <p:cNvPr id="22" name="Freeform 22"/>
            <p:cNvSpPr/>
            <p:nvPr/>
          </p:nvSpPr>
          <p:spPr>
            <a:xfrm>
              <a:off x="0" y="0"/>
              <a:ext cx="3782568" cy="19050"/>
            </a:xfrm>
            <a:custGeom>
              <a:avLst/>
              <a:gdLst/>
              <a:ahLst/>
              <a:cxnLst/>
              <a:rect l="l" t="t" r="r" b="b"/>
              <a:pathLst>
                <a:path w="3782568" h="19050">
                  <a:moveTo>
                    <a:pt x="0" y="0"/>
                  </a:moveTo>
                  <a:lnTo>
                    <a:pt x="3782568" y="0"/>
                  </a:lnTo>
                  <a:lnTo>
                    <a:pt x="3782568" y="19050"/>
                  </a:lnTo>
                  <a:lnTo>
                    <a:pt x="0" y="19050"/>
                  </a:lnTo>
                  <a:close/>
                </a:path>
              </a:pathLst>
            </a:custGeom>
            <a:solidFill>
              <a:srgbClr val="E2E8F0"/>
            </a:solidFill>
          </p:spPr>
        </p:sp>
      </p:grpSp>
      <p:grpSp>
        <p:nvGrpSpPr>
          <p:cNvPr id="23" name="Group 23"/>
          <p:cNvGrpSpPr/>
          <p:nvPr/>
        </p:nvGrpSpPr>
        <p:grpSpPr>
          <a:xfrm>
            <a:off x="6646145" y="6226445"/>
            <a:ext cx="10484568" cy="14288"/>
            <a:chOff x="0" y="0"/>
            <a:chExt cx="13979423" cy="19050"/>
          </a:xfrm>
        </p:grpSpPr>
        <p:sp>
          <p:nvSpPr>
            <p:cNvPr id="24" name="Freeform 24"/>
            <p:cNvSpPr/>
            <p:nvPr/>
          </p:nvSpPr>
          <p:spPr>
            <a:xfrm>
              <a:off x="0" y="0"/>
              <a:ext cx="13979398" cy="19050"/>
            </a:xfrm>
            <a:custGeom>
              <a:avLst/>
              <a:gdLst/>
              <a:ahLst/>
              <a:cxnLst/>
              <a:rect l="l" t="t" r="r" b="b"/>
              <a:pathLst>
                <a:path w="13979398" h="19050">
                  <a:moveTo>
                    <a:pt x="0" y="0"/>
                  </a:moveTo>
                  <a:lnTo>
                    <a:pt x="13979398" y="0"/>
                  </a:lnTo>
                  <a:lnTo>
                    <a:pt x="13979398" y="19050"/>
                  </a:lnTo>
                  <a:lnTo>
                    <a:pt x="0" y="19050"/>
                  </a:lnTo>
                  <a:close/>
                </a:path>
              </a:pathLst>
            </a:custGeom>
            <a:solidFill>
              <a:srgbClr val="E2E8F0"/>
            </a:solidFill>
          </p:spPr>
        </p:sp>
      </p:grpSp>
      <p:grpSp>
        <p:nvGrpSpPr>
          <p:cNvPr id="25" name="Group 25"/>
          <p:cNvGrpSpPr/>
          <p:nvPr/>
        </p:nvGrpSpPr>
        <p:grpSpPr>
          <a:xfrm>
            <a:off x="1157288" y="7298007"/>
            <a:ext cx="2651893" cy="14288"/>
            <a:chOff x="0" y="0"/>
            <a:chExt cx="3535858" cy="19050"/>
          </a:xfrm>
        </p:grpSpPr>
        <p:sp>
          <p:nvSpPr>
            <p:cNvPr id="26" name="Freeform 26"/>
            <p:cNvSpPr/>
            <p:nvPr/>
          </p:nvSpPr>
          <p:spPr>
            <a:xfrm>
              <a:off x="0" y="0"/>
              <a:ext cx="3535807" cy="19050"/>
            </a:xfrm>
            <a:custGeom>
              <a:avLst/>
              <a:gdLst/>
              <a:ahLst/>
              <a:cxnLst/>
              <a:rect l="l" t="t" r="r" b="b"/>
              <a:pathLst>
                <a:path w="3535807" h="19050">
                  <a:moveTo>
                    <a:pt x="0" y="0"/>
                  </a:moveTo>
                  <a:lnTo>
                    <a:pt x="3535807" y="0"/>
                  </a:lnTo>
                  <a:lnTo>
                    <a:pt x="3535807" y="19050"/>
                  </a:lnTo>
                  <a:lnTo>
                    <a:pt x="0" y="19050"/>
                  </a:lnTo>
                  <a:close/>
                </a:path>
              </a:pathLst>
            </a:custGeom>
            <a:solidFill>
              <a:srgbClr val="E2E8F0"/>
            </a:solidFill>
          </p:spPr>
        </p:sp>
      </p:grpSp>
      <p:grpSp>
        <p:nvGrpSpPr>
          <p:cNvPr id="27" name="Group 27"/>
          <p:cNvGrpSpPr/>
          <p:nvPr/>
        </p:nvGrpSpPr>
        <p:grpSpPr>
          <a:xfrm>
            <a:off x="3809181" y="7298007"/>
            <a:ext cx="2836964" cy="14288"/>
            <a:chOff x="0" y="0"/>
            <a:chExt cx="3782619" cy="19050"/>
          </a:xfrm>
        </p:grpSpPr>
        <p:sp>
          <p:nvSpPr>
            <p:cNvPr id="28" name="Freeform 28"/>
            <p:cNvSpPr/>
            <p:nvPr/>
          </p:nvSpPr>
          <p:spPr>
            <a:xfrm>
              <a:off x="0" y="0"/>
              <a:ext cx="3782568" cy="19050"/>
            </a:xfrm>
            <a:custGeom>
              <a:avLst/>
              <a:gdLst/>
              <a:ahLst/>
              <a:cxnLst/>
              <a:rect l="l" t="t" r="r" b="b"/>
              <a:pathLst>
                <a:path w="3782568" h="19050">
                  <a:moveTo>
                    <a:pt x="0" y="0"/>
                  </a:moveTo>
                  <a:lnTo>
                    <a:pt x="3782568" y="0"/>
                  </a:lnTo>
                  <a:lnTo>
                    <a:pt x="3782568" y="19050"/>
                  </a:lnTo>
                  <a:lnTo>
                    <a:pt x="0" y="19050"/>
                  </a:lnTo>
                  <a:close/>
                </a:path>
              </a:pathLst>
            </a:custGeom>
            <a:solidFill>
              <a:srgbClr val="E2E8F0"/>
            </a:solidFill>
          </p:spPr>
        </p:sp>
      </p:grpSp>
      <p:grpSp>
        <p:nvGrpSpPr>
          <p:cNvPr id="29" name="Group 29"/>
          <p:cNvGrpSpPr/>
          <p:nvPr/>
        </p:nvGrpSpPr>
        <p:grpSpPr>
          <a:xfrm>
            <a:off x="6646145" y="7298007"/>
            <a:ext cx="10484568" cy="14288"/>
            <a:chOff x="0" y="0"/>
            <a:chExt cx="13979423" cy="19050"/>
          </a:xfrm>
        </p:grpSpPr>
        <p:sp>
          <p:nvSpPr>
            <p:cNvPr id="30" name="Freeform 30"/>
            <p:cNvSpPr/>
            <p:nvPr/>
          </p:nvSpPr>
          <p:spPr>
            <a:xfrm>
              <a:off x="0" y="0"/>
              <a:ext cx="13979398" cy="19050"/>
            </a:xfrm>
            <a:custGeom>
              <a:avLst/>
              <a:gdLst/>
              <a:ahLst/>
              <a:cxnLst/>
              <a:rect l="l" t="t" r="r" b="b"/>
              <a:pathLst>
                <a:path w="13979398" h="19050">
                  <a:moveTo>
                    <a:pt x="0" y="0"/>
                  </a:moveTo>
                  <a:lnTo>
                    <a:pt x="13979398" y="0"/>
                  </a:lnTo>
                  <a:lnTo>
                    <a:pt x="13979398" y="19050"/>
                  </a:lnTo>
                  <a:lnTo>
                    <a:pt x="0" y="19050"/>
                  </a:lnTo>
                  <a:close/>
                </a:path>
              </a:pathLst>
            </a:custGeom>
            <a:solidFill>
              <a:srgbClr val="E2E8F0"/>
            </a:solidFill>
          </p:spPr>
        </p:sp>
      </p:grpSp>
      <p:grpSp>
        <p:nvGrpSpPr>
          <p:cNvPr id="31" name="Group 31"/>
          <p:cNvGrpSpPr/>
          <p:nvPr/>
        </p:nvGrpSpPr>
        <p:grpSpPr>
          <a:xfrm>
            <a:off x="1143000" y="857250"/>
            <a:ext cx="16802100" cy="651424"/>
            <a:chOff x="0" y="0"/>
            <a:chExt cx="22402800" cy="868566"/>
          </a:xfrm>
        </p:grpSpPr>
        <p:sp>
          <p:nvSpPr>
            <p:cNvPr id="32" name="Freeform 32"/>
            <p:cNvSpPr/>
            <p:nvPr/>
          </p:nvSpPr>
          <p:spPr>
            <a:xfrm>
              <a:off x="0" y="0"/>
              <a:ext cx="22402800" cy="868560"/>
            </a:xfrm>
            <a:custGeom>
              <a:avLst/>
              <a:gdLst/>
              <a:ahLst/>
              <a:cxnLst/>
              <a:rect l="l" t="t" r="r" b="b"/>
              <a:pathLst>
                <a:path w="22402800" h="868560">
                  <a:moveTo>
                    <a:pt x="0" y="0"/>
                  </a:moveTo>
                  <a:lnTo>
                    <a:pt x="22402800" y="0"/>
                  </a:lnTo>
                  <a:lnTo>
                    <a:pt x="22402800" y="868560"/>
                  </a:lnTo>
                  <a:lnTo>
                    <a:pt x="0" y="868560"/>
                  </a:lnTo>
                  <a:close/>
                </a:path>
              </a:pathLst>
            </a:custGeom>
            <a:blipFill>
              <a:blip r:embed="rId5">
                <a:alphaModFix amt="0"/>
              </a:blip>
              <a:stretch>
                <a:fillRect t="-452577" b="-452578"/>
              </a:stretch>
            </a:blipFill>
          </p:spPr>
        </p:sp>
        <p:sp>
          <p:nvSpPr>
            <p:cNvPr id="33" name="TextBox 33"/>
            <p:cNvSpPr txBox="1"/>
            <p:nvPr/>
          </p:nvSpPr>
          <p:spPr>
            <a:xfrm>
              <a:off x="0" y="-95250"/>
              <a:ext cx="22402800" cy="963816"/>
            </a:xfrm>
            <a:prstGeom prst="rect">
              <a:avLst/>
            </a:prstGeom>
          </p:spPr>
          <p:txBody>
            <a:bodyPr lIns="0" tIns="0" rIns="0" bIns="0" rtlCol="0" anchor="ctr"/>
            <a:lstStyle/>
            <a:p>
              <a:pPr algn="l">
                <a:lnSpc>
                  <a:spcPts val="6155"/>
                </a:lnSpc>
              </a:pPr>
              <a:r>
                <a:rPr lang="en-US" sz="4275">
                  <a:solidFill>
                    <a:srgbClr val="0F172A"/>
                  </a:solidFill>
                  <a:latin typeface="Cinema Outfit"/>
                  <a:ea typeface="Cinema Outfit"/>
                  <a:cs typeface="Cinema Outfit"/>
                  <a:sym typeface="Cinema Outfit"/>
                </a:rPr>
                <a:t>The Technical Core Stack</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8572500" y="3777701"/>
            <a:ext cx="1143000" cy="57150"/>
            <a:chOff x="0" y="0"/>
            <a:chExt cx="1524000" cy="76200"/>
          </a:xfrm>
        </p:grpSpPr>
        <p:sp>
          <p:nvSpPr>
            <p:cNvPr id="5" name="Freeform 5"/>
            <p:cNvSpPr/>
            <p:nvPr/>
          </p:nvSpPr>
          <p:spPr>
            <a:xfrm>
              <a:off x="0" y="0"/>
              <a:ext cx="1524000" cy="76200"/>
            </a:xfrm>
            <a:custGeom>
              <a:avLst/>
              <a:gdLst/>
              <a:ahLst/>
              <a:cxnLst/>
              <a:rect l="l" t="t" r="r" b="b"/>
              <a:pathLst>
                <a:path w="1524000" h="76200">
                  <a:moveTo>
                    <a:pt x="0" y="0"/>
                  </a:moveTo>
                  <a:lnTo>
                    <a:pt x="1524000" y="0"/>
                  </a:lnTo>
                  <a:lnTo>
                    <a:pt x="1524000" y="76200"/>
                  </a:lnTo>
                  <a:lnTo>
                    <a:pt x="0" y="76200"/>
                  </a:lnTo>
                  <a:close/>
                </a:path>
              </a:pathLst>
            </a:custGeom>
            <a:solidFill>
              <a:srgbClr val="0D9488"/>
            </a:solidFill>
          </p:spPr>
        </p:sp>
      </p:grpSp>
      <p:sp>
        <p:nvSpPr>
          <p:cNvPr id="6" name="TextBox 6"/>
          <p:cNvSpPr txBox="1"/>
          <p:nvPr/>
        </p:nvSpPr>
        <p:spPr>
          <a:xfrm>
            <a:off x="3834502" y="4034876"/>
            <a:ext cx="10618987" cy="1093851"/>
          </a:xfrm>
          <a:prstGeom prst="rect">
            <a:avLst/>
          </a:prstGeom>
        </p:spPr>
        <p:txBody>
          <a:bodyPr lIns="0" tIns="0" rIns="0" bIns="0" rtlCol="0" anchor="t">
            <a:spAutoFit/>
          </a:bodyPr>
          <a:lstStyle/>
          <a:p>
            <a:pPr algn="ctr">
              <a:lnSpc>
                <a:spcPts val="9072"/>
              </a:lnSpc>
            </a:pPr>
            <a:r>
              <a:rPr lang="en-US" sz="6300">
                <a:solidFill>
                  <a:srgbClr val="FFFFFF"/>
                </a:solidFill>
                <a:latin typeface="Cinema Outfit"/>
                <a:ea typeface="Cinema Outfit"/>
                <a:cs typeface="Cinema Outfit"/>
                <a:sym typeface="Cinema Outfit"/>
              </a:rPr>
              <a:t>Project Goals &amp; Tradeoffs</a:t>
            </a:r>
          </a:p>
        </p:txBody>
      </p:sp>
      <p:sp>
        <p:nvSpPr>
          <p:cNvPr id="7" name="TextBox 7"/>
          <p:cNvSpPr txBox="1"/>
          <p:nvPr/>
        </p:nvSpPr>
        <p:spPr>
          <a:xfrm>
            <a:off x="3834502" y="5627035"/>
            <a:ext cx="11164279" cy="1215010"/>
          </a:xfrm>
          <a:prstGeom prst="rect">
            <a:avLst/>
          </a:prstGeom>
        </p:spPr>
        <p:txBody>
          <a:bodyPr lIns="0" tIns="0" rIns="0" bIns="0" rtlCol="0" anchor="t">
            <a:spAutoFit/>
          </a:bodyPr>
          <a:lstStyle/>
          <a:p>
            <a:pPr algn="ctr">
              <a:lnSpc>
                <a:spcPts val="5087"/>
              </a:lnSpc>
            </a:pPr>
            <a:r>
              <a:rPr lang="en-US" sz="2649" b="1">
                <a:solidFill>
                  <a:srgbClr val="94A3B8"/>
                </a:solidFill>
                <a:latin typeface="Inter Bold"/>
                <a:ea typeface="Inter Bold"/>
                <a:cs typeface="Inter Bold"/>
                <a:sym typeface="Inter Bold"/>
              </a:rPr>
              <a:t>A summary of system validation performance, architectural compromises, and technical milestones hit by Veritas Claims.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4" name="TextBox 4"/>
          <p:cNvSpPr txBox="1"/>
          <p:nvPr/>
        </p:nvSpPr>
        <p:spPr>
          <a:xfrm>
            <a:off x="1643062" y="2099224"/>
            <a:ext cx="13073062" cy="1345406"/>
          </a:xfrm>
          <a:prstGeom prst="rect">
            <a:avLst/>
          </a:prstGeom>
        </p:spPr>
        <p:txBody>
          <a:bodyPr lIns="0" tIns="0" rIns="0" bIns="0" rtlCol="0" anchor="t">
            <a:spAutoFit/>
          </a:bodyPr>
          <a:lstStyle/>
          <a:p>
            <a:pPr algn="l">
              <a:lnSpc>
                <a:spcPts val="3846"/>
              </a:lnSpc>
            </a:pPr>
            <a:r>
              <a:rPr lang="en-US" sz="2137" b="1">
                <a:solidFill>
                  <a:srgbClr val="334155"/>
                </a:solidFill>
                <a:latin typeface="Inter Bold"/>
                <a:ea typeface="Inter Bold"/>
                <a:cs typeface="Inter Bold"/>
                <a:sym typeface="Inter Bold"/>
              </a:rPr>
              <a:t>End-to-End Execution:</a:t>
            </a:r>
            <a:r>
              <a:rPr lang="en-US" sz="2137">
                <a:solidFill>
                  <a:srgbClr val="334155"/>
                </a:solidFill>
                <a:latin typeface="Inter"/>
                <a:ea typeface="Inter"/>
                <a:cs typeface="Inter"/>
                <a:sym typeface="Inter"/>
              </a:rPr>
              <a:t> Successfully constructed a seamless, automated file-to-dashboard workflow capable of taking messy raw medical JSON inputs and mapping them into standardized, clean relational metrics tables.</a:t>
            </a:r>
          </a:p>
        </p:txBody>
      </p:sp>
      <p:sp>
        <p:nvSpPr>
          <p:cNvPr id="5" name="TextBox 5"/>
          <p:cNvSpPr txBox="1"/>
          <p:nvPr/>
        </p:nvSpPr>
        <p:spPr>
          <a:xfrm>
            <a:off x="1643062" y="3677983"/>
            <a:ext cx="13073062" cy="1345406"/>
          </a:xfrm>
          <a:prstGeom prst="rect">
            <a:avLst/>
          </a:prstGeom>
        </p:spPr>
        <p:txBody>
          <a:bodyPr lIns="0" tIns="0" rIns="0" bIns="0" rtlCol="0" anchor="t">
            <a:spAutoFit/>
          </a:bodyPr>
          <a:lstStyle/>
          <a:p>
            <a:pPr algn="l">
              <a:lnSpc>
                <a:spcPts val="3846"/>
              </a:lnSpc>
            </a:pPr>
            <a:r>
              <a:rPr lang="en-US" sz="2137" b="1">
                <a:solidFill>
                  <a:srgbClr val="334155"/>
                </a:solidFill>
                <a:latin typeface="Inter Bold"/>
                <a:ea typeface="Inter Bold"/>
                <a:cs typeface="Inter Bold"/>
                <a:sym typeface="Inter Bold"/>
              </a:rPr>
              <a:t>Interoperable Standardization:</a:t>
            </a:r>
            <a:r>
              <a:rPr lang="en-US" sz="2137">
                <a:solidFill>
                  <a:srgbClr val="334155"/>
                </a:solidFill>
                <a:latin typeface="Inter"/>
                <a:ea typeface="Inter"/>
                <a:cs typeface="Inter"/>
                <a:sym typeface="Inter"/>
              </a:rPr>
              <a:t> Developed a highly structured, rule-based dictionary engine that maps chaotic multi-format lab nomenclature and inconsistent measurement units into perfectly aligned target profiles.</a:t>
            </a:r>
          </a:p>
        </p:txBody>
      </p:sp>
      <p:sp>
        <p:nvSpPr>
          <p:cNvPr id="6" name="TextBox 6"/>
          <p:cNvSpPr txBox="1"/>
          <p:nvPr/>
        </p:nvSpPr>
        <p:spPr>
          <a:xfrm>
            <a:off x="1643062" y="5256762"/>
            <a:ext cx="13073062" cy="932615"/>
          </a:xfrm>
          <a:prstGeom prst="rect">
            <a:avLst/>
          </a:prstGeom>
        </p:spPr>
        <p:txBody>
          <a:bodyPr lIns="0" tIns="0" rIns="0" bIns="0" rtlCol="0" anchor="t">
            <a:spAutoFit/>
          </a:bodyPr>
          <a:lstStyle/>
          <a:p>
            <a:pPr algn="l">
              <a:lnSpc>
                <a:spcPts val="3846"/>
              </a:lnSpc>
            </a:pPr>
            <a:r>
              <a:rPr lang="en-US" sz="2137" b="1">
                <a:solidFill>
                  <a:srgbClr val="334155"/>
                </a:solidFill>
                <a:latin typeface="Inter Bold"/>
                <a:ea typeface="Inter Bold"/>
                <a:cs typeface="Inter Bold"/>
                <a:sym typeface="Inter Bold"/>
              </a:rPr>
              <a:t>Practical Data Hygiene:</a:t>
            </a:r>
            <a:r>
              <a:rPr lang="en-US" sz="2137">
                <a:solidFill>
                  <a:srgbClr val="334155"/>
                </a:solidFill>
                <a:latin typeface="Inter"/>
                <a:ea typeface="Inter"/>
                <a:cs typeface="Inter"/>
                <a:sym typeface="Inter"/>
              </a:rPr>
              <a:t> Built real-world filters addressing common healthcare integration friction points - namely schema invalidity, structural payload omissions, and duplication anomalies.</a:t>
            </a:r>
          </a:p>
        </p:txBody>
      </p:sp>
      <p:sp>
        <p:nvSpPr>
          <p:cNvPr id="7" name="TextBox 7"/>
          <p:cNvSpPr txBox="1"/>
          <p:nvPr/>
        </p:nvSpPr>
        <p:spPr>
          <a:xfrm>
            <a:off x="1643062" y="6428337"/>
            <a:ext cx="13073062" cy="938213"/>
          </a:xfrm>
          <a:prstGeom prst="rect">
            <a:avLst/>
          </a:prstGeom>
        </p:spPr>
        <p:txBody>
          <a:bodyPr lIns="0" tIns="0" rIns="0" bIns="0" rtlCol="0" anchor="t">
            <a:spAutoFit/>
          </a:bodyPr>
          <a:lstStyle/>
          <a:p>
            <a:pPr algn="l">
              <a:lnSpc>
                <a:spcPts val="3846"/>
              </a:lnSpc>
            </a:pPr>
            <a:r>
              <a:rPr lang="en-US" sz="2137" b="1">
                <a:solidFill>
                  <a:srgbClr val="334155"/>
                </a:solidFill>
                <a:latin typeface="Inter Bold"/>
                <a:ea typeface="Inter Bold"/>
                <a:cs typeface="Inter Bold"/>
                <a:sym typeface="Inter Bold"/>
              </a:rPr>
              <a:t>Modular Design Patterns:</a:t>
            </a:r>
            <a:r>
              <a:rPr lang="en-US" sz="2137">
                <a:solidFill>
                  <a:srgbClr val="334155"/>
                </a:solidFill>
                <a:latin typeface="Inter"/>
                <a:ea typeface="Inter"/>
                <a:cs typeface="Inter"/>
                <a:sym typeface="Inter"/>
              </a:rPr>
              <a:t> Leveraged clean OOP and configuration separation, creating a prototype pipeline that is instantly ready to scale into a enterprise containerized cloud environment.</a:t>
            </a:r>
          </a:p>
        </p:txBody>
      </p:sp>
      <p:grpSp>
        <p:nvGrpSpPr>
          <p:cNvPr id="8" name="Group 8"/>
          <p:cNvGrpSpPr/>
          <p:nvPr/>
        </p:nvGrpSpPr>
        <p:grpSpPr>
          <a:xfrm>
            <a:off x="1143000" y="2223049"/>
            <a:ext cx="342900" cy="371475"/>
            <a:chOff x="0" y="0"/>
            <a:chExt cx="457200" cy="495300"/>
          </a:xfrm>
        </p:grpSpPr>
        <p:sp>
          <p:nvSpPr>
            <p:cNvPr id="9" name="Freeform 9" descr="image.png"/>
            <p:cNvSpPr/>
            <p:nvPr/>
          </p:nvSpPr>
          <p:spPr>
            <a:xfrm>
              <a:off x="0" y="0"/>
              <a:ext cx="457200" cy="495300"/>
            </a:xfrm>
            <a:custGeom>
              <a:avLst/>
              <a:gdLst/>
              <a:ahLst/>
              <a:cxnLst/>
              <a:rect l="l" t="t" r="r" b="b"/>
              <a:pathLst>
                <a:path w="457200" h="495300">
                  <a:moveTo>
                    <a:pt x="0" y="0"/>
                  </a:moveTo>
                  <a:lnTo>
                    <a:pt x="457200" y="0"/>
                  </a:lnTo>
                  <a:lnTo>
                    <a:pt x="457200" y="495300"/>
                  </a:lnTo>
                  <a:lnTo>
                    <a:pt x="0" y="495300"/>
                  </a:lnTo>
                  <a:lnTo>
                    <a:pt x="0" y="0"/>
                  </a:lnTo>
                  <a:close/>
                </a:path>
              </a:pathLst>
            </a:custGeom>
            <a:blipFill>
              <a:blip r:embed="rId4"/>
              <a:stretch>
                <a:fillRect/>
              </a:stretch>
            </a:blipFill>
          </p:spPr>
        </p:sp>
      </p:grpSp>
      <p:grpSp>
        <p:nvGrpSpPr>
          <p:cNvPr id="10" name="Group 10"/>
          <p:cNvGrpSpPr/>
          <p:nvPr/>
        </p:nvGrpSpPr>
        <p:grpSpPr>
          <a:xfrm>
            <a:off x="1143000" y="3801808"/>
            <a:ext cx="342900" cy="371475"/>
            <a:chOff x="0" y="0"/>
            <a:chExt cx="457200" cy="495300"/>
          </a:xfrm>
        </p:grpSpPr>
        <p:sp>
          <p:nvSpPr>
            <p:cNvPr id="11" name="Freeform 11" descr="image.png"/>
            <p:cNvSpPr/>
            <p:nvPr/>
          </p:nvSpPr>
          <p:spPr>
            <a:xfrm>
              <a:off x="0" y="0"/>
              <a:ext cx="457200" cy="495300"/>
            </a:xfrm>
            <a:custGeom>
              <a:avLst/>
              <a:gdLst/>
              <a:ahLst/>
              <a:cxnLst/>
              <a:rect l="l" t="t" r="r" b="b"/>
              <a:pathLst>
                <a:path w="457200" h="495300">
                  <a:moveTo>
                    <a:pt x="0" y="0"/>
                  </a:moveTo>
                  <a:lnTo>
                    <a:pt x="457200" y="0"/>
                  </a:lnTo>
                  <a:lnTo>
                    <a:pt x="457200" y="495300"/>
                  </a:lnTo>
                  <a:lnTo>
                    <a:pt x="0" y="495300"/>
                  </a:lnTo>
                  <a:lnTo>
                    <a:pt x="0" y="0"/>
                  </a:lnTo>
                  <a:close/>
                </a:path>
              </a:pathLst>
            </a:custGeom>
            <a:blipFill>
              <a:blip r:embed="rId4"/>
              <a:stretch>
                <a:fillRect/>
              </a:stretch>
            </a:blipFill>
          </p:spPr>
        </p:sp>
      </p:grpSp>
      <p:grpSp>
        <p:nvGrpSpPr>
          <p:cNvPr id="12" name="Group 12"/>
          <p:cNvGrpSpPr/>
          <p:nvPr/>
        </p:nvGrpSpPr>
        <p:grpSpPr>
          <a:xfrm>
            <a:off x="1143000" y="5380587"/>
            <a:ext cx="342900" cy="371475"/>
            <a:chOff x="0" y="0"/>
            <a:chExt cx="457200" cy="495300"/>
          </a:xfrm>
        </p:grpSpPr>
        <p:sp>
          <p:nvSpPr>
            <p:cNvPr id="13" name="Freeform 13" descr="image.png"/>
            <p:cNvSpPr/>
            <p:nvPr/>
          </p:nvSpPr>
          <p:spPr>
            <a:xfrm>
              <a:off x="0" y="0"/>
              <a:ext cx="457200" cy="495300"/>
            </a:xfrm>
            <a:custGeom>
              <a:avLst/>
              <a:gdLst/>
              <a:ahLst/>
              <a:cxnLst/>
              <a:rect l="l" t="t" r="r" b="b"/>
              <a:pathLst>
                <a:path w="457200" h="495300">
                  <a:moveTo>
                    <a:pt x="0" y="0"/>
                  </a:moveTo>
                  <a:lnTo>
                    <a:pt x="457200" y="0"/>
                  </a:lnTo>
                  <a:lnTo>
                    <a:pt x="457200" y="495300"/>
                  </a:lnTo>
                  <a:lnTo>
                    <a:pt x="0" y="495300"/>
                  </a:lnTo>
                  <a:lnTo>
                    <a:pt x="0" y="0"/>
                  </a:lnTo>
                  <a:close/>
                </a:path>
              </a:pathLst>
            </a:custGeom>
            <a:blipFill>
              <a:blip r:embed="rId4"/>
              <a:stretch>
                <a:fillRect/>
              </a:stretch>
            </a:blipFill>
          </p:spPr>
        </p:sp>
      </p:grpSp>
      <p:grpSp>
        <p:nvGrpSpPr>
          <p:cNvPr id="14" name="Group 14"/>
          <p:cNvGrpSpPr/>
          <p:nvPr/>
        </p:nvGrpSpPr>
        <p:grpSpPr>
          <a:xfrm>
            <a:off x="1143000" y="6552162"/>
            <a:ext cx="342900" cy="371475"/>
            <a:chOff x="0" y="0"/>
            <a:chExt cx="457200" cy="495300"/>
          </a:xfrm>
        </p:grpSpPr>
        <p:sp>
          <p:nvSpPr>
            <p:cNvPr id="15" name="Freeform 15" descr="image.png"/>
            <p:cNvSpPr/>
            <p:nvPr/>
          </p:nvSpPr>
          <p:spPr>
            <a:xfrm>
              <a:off x="0" y="0"/>
              <a:ext cx="457200" cy="495300"/>
            </a:xfrm>
            <a:custGeom>
              <a:avLst/>
              <a:gdLst/>
              <a:ahLst/>
              <a:cxnLst/>
              <a:rect l="l" t="t" r="r" b="b"/>
              <a:pathLst>
                <a:path w="457200" h="495300">
                  <a:moveTo>
                    <a:pt x="0" y="0"/>
                  </a:moveTo>
                  <a:lnTo>
                    <a:pt x="457200" y="0"/>
                  </a:lnTo>
                  <a:lnTo>
                    <a:pt x="457200" y="495300"/>
                  </a:lnTo>
                  <a:lnTo>
                    <a:pt x="0" y="495300"/>
                  </a:lnTo>
                  <a:lnTo>
                    <a:pt x="0" y="0"/>
                  </a:lnTo>
                  <a:close/>
                </a:path>
              </a:pathLst>
            </a:custGeom>
            <a:blipFill>
              <a:blip r:embed="rId4"/>
              <a:stretch>
                <a:fillRect/>
              </a:stretch>
            </a:blipFill>
          </p:spPr>
        </p:sp>
      </p:grpSp>
      <p:grpSp>
        <p:nvGrpSpPr>
          <p:cNvPr id="16" name="Group 16"/>
          <p:cNvGrpSpPr/>
          <p:nvPr/>
        </p:nvGrpSpPr>
        <p:grpSpPr>
          <a:xfrm>
            <a:off x="5469308" y="702988"/>
            <a:ext cx="16802100" cy="1009078"/>
            <a:chOff x="0" y="0"/>
            <a:chExt cx="22402800" cy="1345438"/>
          </a:xfrm>
        </p:grpSpPr>
        <p:sp>
          <p:nvSpPr>
            <p:cNvPr id="17" name="Freeform 17"/>
            <p:cNvSpPr/>
            <p:nvPr/>
          </p:nvSpPr>
          <p:spPr>
            <a:xfrm>
              <a:off x="0" y="0"/>
              <a:ext cx="22402800" cy="1345429"/>
            </a:xfrm>
            <a:custGeom>
              <a:avLst/>
              <a:gdLst/>
              <a:ahLst/>
              <a:cxnLst/>
              <a:rect l="l" t="t" r="r" b="b"/>
              <a:pathLst>
                <a:path w="22402800" h="1345429">
                  <a:moveTo>
                    <a:pt x="0" y="0"/>
                  </a:moveTo>
                  <a:lnTo>
                    <a:pt x="22402800" y="0"/>
                  </a:lnTo>
                  <a:lnTo>
                    <a:pt x="22402800" y="1345429"/>
                  </a:lnTo>
                  <a:lnTo>
                    <a:pt x="0" y="1345429"/>
                  </a:lnTo>
                  <a:close/>
                </a:path>
              </a:pathLst>
            </a:custGeom>
            <a:blipFill>
              <a:blip r:embed="rId5">
                <a:alphaModFix amt="0"/>
              </a:blip>
              <a:stretch>
                <a:fillRect t="-292167" b="-256724"/>
              </a:stretch>
            </a:blipFill>
          </p:spPr>
        </p:sp>
        <p:sp>
          <p:nvSpPr>
            <p:cNvPr id="18" name="TextBox 18"/>
            <p:cNvSpPr txBox="1"/>
            <p:nvPr/>
          </p:nvSpPr>
          <p:spPr>
            <a:xfrm>
              <a:off x="0" y="-95250"/>
              <a:ext cx="22402800" cy="1440688"/>
            </a:xfrm>
            <a:prstGeom prst="rect">
              <a:avLst/>
            </a:prstGeom>
          </p:spPr>
          <p:txBody>
            <a:bodyPr lIns="0" tIns="0" rIns="0" bIns="0" rtlCol="0" anchor="ctr"/>
            <a:lstStyle/>
            <a:p>
              <a:pPr algn="l">
                <a:lnSpc>
                  <a:spcPts val="6155"/>
                </a:lnSpc>
              </a:pPr>
              <a:r>
                <a:rPr lang="en-US" sz="4275">
                  <a:solidFill>
                    <a:srgbClr val="0F172A"/>
                  </a:solidFill>
                  <a:latin typeface="Cinema Outfit"/>
                  <a:ea typeface="Cinema Outfit"/>
                  <a:cs typeface="Cinema Outfit"/>
                  <a:sym typeface="Cinema Outfit"/>
                </a:rPr>
                <a:t>Key Project Achievements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143000" y="3333455"/>
            <a:ext cx="7715250" cy="4699921"/>
            <a:chOff x="0" y="0"/>
            <a:chExt cx="10287000" cy="6266561"/>
          </a:xfrm>
        </p:grpSpPr>
        <p:sp>
          <p:nvSpPr>
            <p:cNvPr id="5" name="Freeform 5" descr="image.png"/>
            <p:cNvSpPr/>
            <p:nvPr/>
          </p:nvSpPr>
          <p:spPr>
            <a:xfrm>
              <a:off x="0" y="0"/>
              <a:ext cx="10287000" cy="6266561"/>
            </a:xfrm>
            <a:custGeom>
              <a:avLst/>
              <a:gdLst/>
              <a:ahLst/>
              <a:cxnLst/>
              <a:rect l="l" t="t" r="r" b="b"/>
              <a:pathLst>
                <a:path w="10287000" h="6266561">
                  <a:moveTo>
                    <a:pt x="0" y="0"/>
                  </a:moveTo>
                  <a:lnTo>
                    <a:pt x="10287000" y="0"/>
                  </a:lnTo>
                  <a:lnTo>
                    <a:pt x="10287000" y="6266561"/>
                  </a:lnTo>
                  <a:lnTo>
                    <a:pt x="0" y="6266561"/>
                  </a:lnTo>
                  <a:lnTo>
                    <a:pt x="0" y="0"/>
                  </a:lnTo>
                  <a:close/>
                </a:path>
              </a:pathLst>
            </a:custGeom>
            <a:blipFill>
              <a:blip r:embed="rId4"/>
              <a:stretch>
                <a:fillRect b="-318"/>
              </a:stretch>
            </a:blipFill>
          </p:spPr>
        </p:sp>
      </p:grpSp>
      <p:grpSp>
        <p:nvGrpSpPr>
          <p:cNvPr id="6" name="Group 6"/>
          <p:cNvGrpSpPr/>
          <p:nvPr/>
        </p:nvGrpSpPr>
        <p:grpSpPr>
          <a:xfrm>
            <a:off x="9429750" y="3333455"/>
            <a:ext cx="7715250" cy="4699921"/>
            <a:chOff x="0" y="0"/>
            <a:chExt cx="10287000" cy="6266561"/>
          </a:xfrm>
        </p:grpSpPr>
        <p:sp>
          <p:nvSpPr>
            <p:cNvPr id="7" name="Freeform 7" descr="image.png"/>
            <p:cNvSpPr/>
            <p:nvPr/>
          </p:nvSpPr>
          <p:spPr>
            <a:xfrm>
              <a:off x="0" y="0"/>
              <a:ext cx="10287000" cy="6266561"/>
            </a:xfrm>
            <a:custGeom>
              <a:avLst/>
              <a:gdLst/>
              <a:ahLst/>
              <a:cxnLst/>
              <a:rect l="l" t="t" r="r" b="b"/>
              <a:pathLst>
                <a:path w="10287000" h="6266561">
                  <a:moveTo>
                    <a:pt x="0" y="0"/>
                  </a:moveTo>
                  <a:lnTo>
                    <a:pt x="10287000" y="0"/>
                  </a:lnTo>
                  <a:lnTo>
                    <a:pt x="10287000" y="6266561"/>
                  </a:lnTo>
                  <a:lnTo>
                    <a:pt x="0" y="6266561"/>
                  </a:lnTo>
                  <a:lnTo>
                    <a:pt x="0" y="0"/>
                  </a:lnTo>
                  <a:close/>
                </a:path>
              </a:pathLst>
            </a:custGeom>
            <a:blipFill>
              <a:blip r:embed="rId5"/>
              <a:stretch>
                <a:fillRect b="-318"/>
              </a:stretch>
            </a:blipFill>
          </p:spPr>
        </p:sp>
      </p:grpSp>
      <p:grpSp>
        <p:nvGrpSpPr>
          <p:cNvPr id="8" name="Group 8"/>
          <p:cNvGrpSpPr/>
          <p:nvPr/>
        </p:nvGrpSpPr>
        <p:grpSpPr>
          <a:xfrm>
            <a:off x="2354481" y="3810062"/>
            <a:ext cx="6180772" cy="629793"/>
            <a:chOff x="0" y="0"/>
            <a:chExt cx="8241030" cy="839724"/>
          </a:xfrm>
        </p:grpSpPr>
        <p:sp>
          <p:nvSpPr>
            <p:cNvPr id="9" name="Freeform 9"/>
            <p:cNvSpPr/>
            <p:nvPr/>
          </p:nvSpPr>
          <p:spPr>
            <a:xfrm>
              <a:off x="0" y="0"/>
              <a:ext cx="8241030" cy="839728"/>
            </a:xfrm>
            <a:custGeom>
              <a:avLst/>
              <a:gdLst/>
              <a:ahLst/>
              <a:cxnLst/>
              <a:rect l="l" t="t" r="r" b="b"/>
              <a:pathLst>
                <a:path w="8241030" h="839728">
                  <a:moveTo>
                    <a:pt x="0" y="0"/>
                  </a:moveTo>
                  <a:lnTo>
                    <a:pt x="8241030" y="0"/>
                  </a:lnTo>
                  <a:lnTo>
                    <a:pt x="8241030" y="839728"/>
                  </a:lnTo>
                  <a:lnTo>
                    <a:pt x="0" y="839728"/>
                  </a:lnTo>
                  <a:close/>
                </a:path>
              </a:pathLst>
            </a:custGeom>
            <a:blipFill>
              <a:blip r:embed="rId6">
                <a:alphaModFix amt="0"/>
              </a:blip>
              <a:stretch>
                <a:fillRect t="-158560" b="-123888"/>
              </a:stretch>
            </a:blipFill>
          </p:spPr>
        </p:sp>
        <p:sp>
          <p:nvSpPr>
            <p:cNvPr id="10" name="TextBox 10"/>
            <p:cNvSpPr txBox="1"/>
            <p:nvPr/>
          </p:nvSpPr>
          <p:spPr>
            <a:xfrm>
              <a:off x="0" y="-57150"/>
              <a:ext cx="8241030" cy="896874"/>
            </a:xfrm>
            <a:prstGeom prst="rect">
              <a:avLst/>
            </a:prstGeom>
          </p:spPr>
          <p:txBody>
            <a:bodyPr lIns="0" tIns="0" rIns="0" bIns="0" rtlCol="0" anchor="ctr"/>
            <a:lstStyle/>
            <a:p>
              <a:pPr algn="l">
                <a:lnSpc>
                  <a:spcPts val="3887"/>
                </a:lnSpc>
              </a:pPr>
              <a:r>
                <a:rPr lang="en-US" sz="2700">
                  <a:solidFill>
                    <a:srgbClr val="EF4444"/>
                  </a:solidFill>
                  <a:latin typeface="Cinema Outfit"/>
                  <a:ea typeface="Cinema Outfit"/>
                  <a:cs typeface="Cinema Outfit"/>
                  <a:sym typeface="Cinema Outfit"/>
                </a:rPr>
                <a:t>Prototype Tradeoffs</a:t>
              </a:r>
            </a:p>
          </p:txBody>
        </p:sp>
      </p:grpSp>
      <p:sp>
        <p:nvSpPr>
          <p:cNvPr id="11" name="TextBox 11"/>
          <p:cNvSpPr txBox="1"/>
          <p:nvPr/>
        </p:nvSpPr>
        <p:spPr>
          <a:xfrm>
            <a:off x="1785938" y="4421162"/>
            <a:ext cx="6486525" cy="1220838"/>
          </a:xfrm>
          <a:prstGeom prst="rect">
            <a:avLst/>
          </a:prstGeom>
        </p:spPr>
        <p:txBody>
          <a:bodyPr lIns="0" tIns="0" rIns="0" bIns="0" rtlCol="0" anchor="t">
            <a:spAutoFit/>
          </a:bodyPr>
          <a:lstStyle/>
          <a:p>
            <a:pPr algn="l">
              <a:lnSpc>
                <a:spcPts val="3456"/>
              </a:lnSpc>
            </a:pPr>
            <a:r>
              <a:rPr lang="en-US" sz="1800" b="1">
                <a:solidFill>
                  <a:srgbClr val="475569"/>
                </a:solidFill>
                <a:latin typeface="Inter Bold"/>
                <a:ea typeface="Inter Bold"/>
                <a:cs typeface="Inter Bold"/>
                <a:sym typeface="Inter Bold"/>
              </a:rPr>
              <a:t>Local Storage Limitation:</a:t>
            </a:r>
            <a:r>
              <a:rPr lang="en-US" sz="1800">
                <a:solidFill>
                  <a:srgbClr val="475569"/>
                </a:solidFill>
                <a:latin typeface="Inter"/>
                <a:ea typeface="Inter"/>
                <a:cs typeface="Inter"/>
                <a:sym typeface="Inter"/>
              </a:rPr>
              <a:t> Opted for SQLite to guarantee zero-configuration and simplified localized data state validation over heavier, high-maintenance cluster setups.</a:t>
            </a:r>
          </a:p>
        </p:txBody>
      </p:sp>
      <p:sp>
        <p:nvSpPr>
          <p:cNvPr id="12" name="TextBox 12"/>
          <p:cNvSpPr txBox="1"/>
          <p:nvPr/>
        </p:nvSpPr>
        <p:spPr>
          <a:xfrm>
            <a:off x="1785938" y="5689625"/>
            <a:ext cx="6486525" cy="1586503"/>
          </a:xfrm>
          <a:prstGeom prst="rect">
            <a:avLst/>
          </a:prstGeom>
        </p:spPr>
        <p:txBody>
          <a:bodyPr lIns="0" tIns="0" rIns="0" bIns="0" rtlCol="0" anchor="t">
            <a:spAutoFit/>
          </a:bodyPr>
          <a:lstStyle/>
          <a:p>
            <a:pPr algn="l">
              <a:lnSpc>
                <a:spcPts val="3456"/>
              </a:lnSpc>
            </a:pPr>
            <a:r>
              <a:rPr lang="en-US" sz="1800" b="1">
                <a:solidFill>
                  <a:srgbClr val="475569"/>
                </a:solidFill>
                <a:latin typeface="Inter Bold"/>
                <a:ea typeface="Inter Bold"/>
                <a:cs typeface="Inter Bold"/>
                <a:sym typeface="Inter Bold"/>
              </a:rPr>
              <a:t>Config-Based Mapping:</a:t>
            </a:r>
            <a:r>
              <a:rPr lang="en-US" sz="1800">
                <a:solidFill>
                  <a:srgbClr val="475569"/>
                </a:solidFill>
                <a:latin typeface="Inter"/>
                <a:ea typeface="Inter"/>
                <a:cs typeface="Inter"/>
                <a:sym typeface="Inter"/>
              </a:rPr>
              <a:t> Leveraged deterministic, declarative rule mappings. While highly reliable and audit-ready, it requires configuration maintenance compared to dynamic semantic AI parsing models.</a:t>
            </a:r>
          </a:p>
        </p:txBody>
      </p:sp>
      <p:grpSp>
        <p:nvGrpSpPr>
          <p:cNvPr id="13" name="Group 13"/>
          <p:cNvGrpSpPr/>
          <p:nvPr/>
        </p:nvGrpSpPr>
        <p:grpSpPr>
          <a:xfrm>
            <a:off x="10629900" y="3919242"/>
            <a:ext cx="6225778" cy="411432"/>
            <a:chOff x="0" y="0"/>
            <a:chExt cx="8301038" cy="548576"/>
          </a:xfrm>
        </p:grpSpPr>
        <p:sp>
          <p:nvSpPr>
            <p:cNvPr id="14" name="Freeform 14"/>
            <p:cNvSpPr/>
            <p:nvPr/>
          </p:nvSpPr>
          <p:spPr>
            <a:xfrm>
              <a:off x="0" y="0"/>
              <a:ext cx="8301036" cy="548580"/>
            </a:xfrm>
            <a:custGeom>
              <a:avLst/>
              <a:gdLst/>
              <a:ahLst/>
              <a:cxnLst/>
              <a:rect l="l" t="t" r="r" b="b"/>
              <a:pathLst>
                <a:path w="8301036" h="548580">
                  <a:moveTo>
                    <a:pt x="0" y="0"/>
                  </a:moveTo>
                  <a:lnTo>
                    <a:pt x="8301036" y="0"/>
                  </a:lnTo>
                  <a:lnTo>
                    <a:pt x="8301036" y="548580"/>
                  </a:lnTo>
                  <a:lnTo>
                    <a:pt x="0" y="548580"/>
                  </a:lnTo>
                  <a:close/>
                </a:path>
              </a:pathLst>
            </a:custGeom>
            <a:blipFill>
              <a:blip r:embed="rId6">
                <a:alphaModFix amt="0"/>
              </a:blip>
              <a:stretch>
                <a:fillRect t="-244845" b="-244844"/>
              </a:stretch>
            </a:blipFill>
          </p:spPr>
        </p:sp>
        <p:sp>
          <p:nvSpPr>
            <p:cNvPr id="15" name="TextBox 15"/>
            <p:cNvSpPr txBox="1"/>
            <p:nvPr/>
          </p:nvSpPr>
          <p:spPr>
            <a:xfrm>
              <a:off x="0" y="-57150"/>
              <a:ext cx="8301038" cy="605726"/>
            </a:xfrm>
            <a:prstGeom prst="rect">
              <a:avLst/>
            </a:prstGeom>
          </p:spPr>
          <p:txBody>
            <a:bodyPr lIns="0" tIns="0" rIns="0" bIns="0" rtlCol="0" anchor="ctr"/>
            <a:lstStyle/>
            <a:p>
              <a:pPr algn="l">
                <a:lnSpc>
                  <a:spcPts val="3887"/>
                </a:lnSpc>
              </a:pPr>
              <a:r>
                <a:rPr lang="en-US" sz="2700">
                  <a:solidFill>
                    <a:srgbClr val="0D9488"/>
                  </a:solidFill>
                  <a:latin typeface="Cinema Outfit"/>
                  <a:ea typeface="Cinema Outfit"/>
                  <a:cs typeface="Cinema Outfit"/>
                  <a:sym typeface="Cinema Outfit"/>
                </a:rPr>
                <a:t>Enterprise Growth Roadmap</a:t>
              </a:r>
            </a:p>
          </p:txBody>
        </p:sp>
      </p:grpSp>
      <p:sp>
        <p:nvSpPr>
          <p:cNvPr id="16" name="TextBox 16"/>
          <p:cNvSpPr txBox="1"/>
          <p:nvPr/>
        </p:nvSpPr>
        <p:spPr>
          <a:xfrm>
            <a:off x="10072688" y="4421162"/>
            <a:ext cx="6486525" cy="1273683"/>
          </a:xfrm>
          <a:prstGeom prst="rect">
            <a:avLst/>
          </a:prstGeom>
        </p:spPr>
        <p:txBody>
          <a:bodyPr lIns="0" tIns="0" rIns="0" bIns="0" rtlCol="0" anchor="t">
            <a:spAutoFit/>
          </a:bodyPr>
          <a:lstStyle/>
          <a:p>
            <a:pPr algn="l">
              <a:lnSpc>
                <a:spcPts val="3456"/>
              </a:lnSpc>
            </a:pPr>
            <a:r>
              <a:rPr lang="en-US" sz="1800" b="1">
                <a:solidFill>
                  <a:srgbClr val="475569"/>
                </a:solidFill>
                <a:latin typeface="Inter Bold"/>
                <a:ea typeface="Inter Bold"/>
                <a:cs typeface="Inter Bold"/>
                <a:sym typeface="Inter Bold"/>
              </a:rPr>
              <a:t>Cloud Native Scale:</a:t>
            </a:r>
            <a:r>
              <a:rPr lang="en-US" sz="1800">
                <a:solidFill>
                  <a:srgbClr val="475569"/>
                </a:solidFill>
                <a:latin typeface="Inter"/>
                <a:ea typeface="Inter"/>
                <a:cs typeface="Inter"/>
                <a:sym typeface="Inter"/>
              </a:rPr>
              <a:t> Ready to swap SQLite with PostgreSQL or BigQuery and implement distributed compute wrappers (such as Apache Spark) for petabyte claims parsing.</a:t>
            </a:r>
          </a:p>
        </p:txBody>
      </p:sp>
      <p:sp>
        <p:nvSpPr>
          <p:cNvPr id="17" name="TextBox 17"/>
          <p:cNvSpPr txBox="1"/>
          <p:nvPr/>
        </p:nvSpPr>
        <p:spPr>
          <a:xfrm>
            <a:off x="10072688" y="5689625"/>
            <a:ext cx="6486525" cy="1586503"/>
          </a:xfrm>
          <a:prstGeom prst="rect">
            <a:avLst/>
          </a:prstGeom>
        </p:spPr>
        <p:txBody>
          <a:bodyPr lIns="0" tIns="0" rIns="0" bIns="0" rtlCol="0" anchor="t">
            <a:spAutoFit/>
          </a:bodyPr>
          <a:lstStyle/>
          <a:p>
            <a:pPr algn="l">
              <a:lnSpc>
                <a:spcPts val="3456"/>
              </a:lnSpc>
            </a:pPr>
            <a:r>
              <a:rPr lang="en-US" sz="1800" b="1">
                <a:solidFill>
                  <a:srgbClr val="475569"/>
                </a:solidFill>
                <a:latin typeface="Inter Bold"/>
                <a:ea typeface="Inter Bold"/>
                <a:cs typeface="Inter Bold"/>
                <a:sym typeface="Inter Bold"/>
              </a:rPr>
              <a:t>AI-Ready Enhancements:</a:t>
            </a:r>
            <a:r>
              <a:rPr lang="en-US" sz="1800">
                <a:solidFill>
                  <a:srgbClr val="475569"/>
                </a:solidFill>
                <a:latin typeface="Inter"/>
                <a:ea typeface="Inter"/>
                <a:cs typeface="Inter"/>
                <a:sym typeface="Inter"/>
              </a:rPr>
              <a:t> Transition the standardization rules engine into a Clinical LLM (like AWS Medical Comprehend) to intelligently map unfamiliar, non-standard lab codes to LOINC schemas.</a:t>
            </a:r>
          </a:p>
        </p:txBody>
      </p:sp>
      <p:grpSp>
        <p:nvGrpSpPr>
          <p:cNvPr id="18" name="Group 18"/>
          <p:cNvGrpSpPr/>
          <p:nvPr/>
        </p:nvGrpSpPr>
        <p:grpSpPr>
          <a:xfrm>
            <a:off x="1785938" y="3953399"/>
            <a:ext cx="428625" cy="342900"/>
            <a:chOff x="0" y="0"/>
            <a:chExt cx="571500" cy="457200"/>
          </a:xfrm>
        </p:grpSpPr>
        <p:sp>
          <p:nvSpPr>
            <p:cNvPr id="19" name="Freeform 19" descr="image.png"/>
            <p:cNvSpPr/>
            <p:nvPr/>
          </p:nvSpPr>
          <p:spPr>
            <a:xfrm>
              <a:off x="0" y="0"/>
              <a:ext cx="571500" cy="457200"/>
            </a:xfrm>
            <a:custGeom>
              <a:avLst/>
              <a:gdLst/>
              <a:ahLst/>
              <a:cxnLst/>
              <a:rect l="l" t="t" r="r" b="b"/>
              <a:pathLst>
                <a:path w="571500" h="457200">
                  <a:moveTo>
                    <a:pt x="0" y="0"/>
                  </a:moveTo>
                  <a:lnTo>
                    <a:pt x="571500" y="0"/>
                  </a:lnTo>
                  <a:lnTo>
                    <a:pt x="571500" y="457200"/>
                  </a:lnTo>
                  <a:lnTo>
                    <a:pt x="0" y="457200"/>
                  </a:lnTo>
                  <a:lnTo>
                    <a:pt x="0" y="0"/>
                  </a:lnTo>
                  <a:close/>
                </a:path>
              </a:pathLst>
            </a:custGeom>
            <a:blipFill>
              <a:blip r:embed="rId7"/>
              <a:stretch>
                <a:fillRect b="-4166"/>
              </a:stretch>
            </a:blipFill>
          </p:spPr>
        </p:sp>
      </p:grpSp>
      <p:grpSp>
        <p:nvGrpSpPr>
          <p:cNvPr id="20" name="Group 20"/>
          <p:cNvGrpSpPr/>
          <p:nvPr/>
        </p:nvGrpSpPr>
        <p:grpSpPr>
          <a:xfrm>
            <a:off x="10072688" y="3953399"/>
            <a:ext cx="385762" cy="342900"/>
            <a:chOff x="0" y="0"/>
            <a:chExt cx="514350" cy="457200"/>
          </a:xfrm>
        </p:grpSpPr>
        <p:sp>
          <p:nvSpPr>
            <p:cNvPr id="21" name="Freeform 21" descr="image.png"/>
            <p:cNvSpPr/>
            <p:nvPr/>
          </p:nvSpPr>
          <p:spPr>
            <a:xfrm>
              <a:off x="0" y="0"/>
              <a:ext cx="514350" cy="457200"/>
            </a:xfrm>
            <a:custGeom>
              <a:avLst/>
              <a:gdLst/>
              <a:ahLst/>
              <a:cxnLst/>
              <a:rect l="l" t="t" r="r" b="b"/>
              <a:pathLst>
                <a:path w="514350" h="457200">
                  <a:moveTo>
                    <a:pt x="0" y="0"/>
                  </a:moveTo>
                  <a:lnTo>
                    <a:pt x="514350" y="0"/>
                  </a:lnTo>
                  <a:lnTo>
                    <a:pt x="514350" y="457200"/>
                  </a:lnTo>
                  <a:lnTo>
                    <a:pt x="0" y="457200"/>
                  </a:lnTo>
                  <a:lnTo>
                    <a:pt x="0" y="0"/>
                  </a:lnTo>
                  <a:close/>
                </a:path>
              </a:pathLst>
            </a:custGeom>
            <a:blipFill>
              <a:blip r:embed="rId8"/>
              <a:stretch>
                <a:fillRect b="-4166"/>
              </a:stretch>
            </a:blipFill>
          </p:spPr>
        </p:sp>
      </p:grpSp>
      <p:grpSp>
        <p:nvGrpSpPr>
          <p:cNvPr id="22" name="Group 22"/>
          <p:cNvGrpSpPr/>
          <p:nvPr/>
        </p:nvGrpSpPr>
        <p:grpSpPr>
          <a:xfrm>
            <a:off x="1143000" y="857250"/>
            <a:ext cx="16802100" cy="1009078"/>
            <a:chOff x="0" y="0"/>
            <a:chExt cx="22402800" cy="1345438"/>
          </a:xfrm>
        </p:grpSpPr>
        <p:sp>
          <p:nvSpPr>
            <p:cNvPr id="23" name="Freeform 23"/>
            <p:cNvSpPr/>
            <p:nvPr/>
          </p:nvSpPr>
          <p:spPr>
            <a:xfrm>
              <a:off x="0" y="0"/>
              <a:ext cx="22402800" cy="1345429"/>
            </a:xfrm>
            <a:custGeom>
              <a:avLst/>
              <a:gdLst/>
              <a:ahLst/>
              <a:cxnLst/>
              <a:rect l="l" t="t" r="r" b="b"/>
              <a:pathLst>
                <a:path w="22402800" h="1345429">
                  <a:moveTo>
                    <a:pt x="0" y="0"/>
                  </a:moveTo>
                  <a:lnTo>
                    <a:pt x="22402800" y="0"/>
                  </a:lnTo>
                  <a:lnTo>
                    <a:pt x="22402800" y="1345429"/>
                  </a:lnTo>
                  <a:lnTo>
                    <a:pt x="0" y="1345429"/>
                  </a:lnTo>
                  <a:close/>
                </a:path>
              </a:pathLst>
            </a:custGeom>
            <a:blipFill>
              <a:blip r:embed="rId6">
                <a:alphaModFix amt="0"/>
              </a:blip>
              <a:stretch>
                <a:fillRect t="-292167" b="-256724"/>
              </a:stretch>
            </a:blipFill>
          </p:spPr>
        </p:sp>
        <p:sp>
          <p:nvSpPr>
            <p:cNvPr id="24" name="TextBox 24"/>
            <p:cNvSpPr txBox="1"/>
            <p:nvPr/>
          </p:nvSpPr>
          <p:spPr>
            <a:xfrm>
              <a:off x="0" y="-95250"/>
              <a:ext cx="22402800" cy="1440688"/>
            </a:xfrm>
            <a:prstGeom prst="rect">
              <a:avLst/>
            </a:prstGeom>
          </p:spPr>
          <p:txBody>
            <a:bodyPr lIns="0" tIns="0" rIns="0" bIns="0" rtlCol="0" anchor="ctr"/>
            <a:lstStyle/>
            <a:p>
              <a:pPr algn="l">
                <a:lnSpc>
                  <a:spcPts val="6155"/>
                </a:lnSpc>
              </a:pPr>
              <a:r>
                <a:rPr lang="en-US" sz="4275">
                  <a:solidFill>
                    <a:srgbClr val="0F172A"/>
                  </a:solidFill>
                  <a:latin typeface="Cinema Outfit"/>
                  <a:ea typeface="Cinema Outfit"/>
                  <a:cs typeface="Cinema Outfit"/>
                  <a:sym typeface="Cinema Outfit"/>
                </a:rPr>
                <a:t>Tradeoffs &amp; Production Improvements</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2" name="Group 2"/>
          <p:cNvGrpSpPr/>
          <p:nvPr/>
        </p:nvGrpSpPr>
        <p:grpSpPr>
          <a:xfrm>
            <a:off x="1044164" y="2065493"/>
            <a:ext cx="114300" cy="457200"/>
            <a:chOff x="0" y="0"/>
            <a:chExt cx="152400" cy="609600"/>
          </a:xfrm>
        </p:grpSpPr>
        <p:sp>
          <p:nvSpPr>
            <p:cNvPr id="3" name="Freeform 3"/>
            <p:cNvSpPr/>
            <p:nvPr/>
          </p:nvSpPr>
          <p:spPr>
            <a:xfrm>
              <a:off x="0" y="0"/>
              <a:ext cx="152400" cy="609600"/>
            </a:xfrm>
            <a:custGeom>
              <a:avLst/>
              <a:gdLst/>
              <a:ahLst/>
              <a:cxnLst/>
              <a:rect l="l" t="t" r="r" b="b"/>
              <a:pathLst>
                <a:path w="152400" h="609600">
                  <a:moveTo>
                    <a:pt x="0" y="76200"/>
                  </a:moveTo>
                  <a:cubicBezTo>
                    <a:pt x="0" y="34163"/>
                    <a:pt x="34163" y="0"/>
                    <a:pt x="76200" y="0"/>
                  </a:cubicBezTo>
                  <a:cubicBezTo>
                    <a:pt x="118237" y="0"/>
                    <a:pt x="152400" y="34163"/>
                    <a:pt x="152400" y="76200"/>
                  </a:cubicBezTo>
                  <a:lnTo>
                    <a:pt x="152400" y="533400"/>
                  </a:lnTo>
                  <a:cubicBezTo>
                    <a:pt x="152400" y="575437"/>
                    <a:pt x="118237" y="609600"/>
                    <a:pt x="76200" y="609600"/>
                  </a:cubicBezTo>
                  <a:cubicBezTo>
                    <a:pt x="34163" y="609600"/>
                    <a:pt x="0" y="575437"/>
                    <a:pt x="0" y="533400"/>
                  </a:cubicBezTo>
                  <a:close/>
                </a:path>
              </a:pathLst>
            </a:custGeom>
            <a:solidFill>
              <a:srgbClr val="0D9488"/>
            </a:solidFill>
          </p:spPr>
        </p:sp>
      </p:grpSp>
      <p:grpSp>
        <p:nvGrpSpPr>
          <p:cNvPr id="4" name="Group 4"/>
          <p:cNvGrpSpPr/>
          <p:nvPr/>
        </p:nvGrpSpPr>
        <p:grpSpPr>
          <a:xfrm>
            <a:off x="1143000" y="6053214"/>
            <a:ext cx="2386012" cy="485775"/>
            <a:chOff x="0" y="0"/>
            <a:chExt cx="3181350" cy="647700"/>
          </a:xfrm>
        </p:grpSpPr>
        <p:sp>
          <p:nvSpPr>
            <p:cNvPr id="5" name="Freeform 5" descr="image.png"/>
            <p:cNvSpPr/>
            <p:nvPr/>
          </p:nvSpPr>
          <p:spPr>
            <a:xfrm>
              <a:off x="0" y="0"/>
              <a:ext cx="3181350" cy="647700"/>
            </a:xfrm>
            <a:custGeom>
              <a:avLst/>
              <a:gdLst/>
              <a:ahLst/>
              <a:cxnLst/>
              <a:rect l="l" t="t" r="r" b="b"/>
              <a:pathLst>
                <a:path w="3181350" h="647700">
                  <a:moveTo>
                    <a:pt x="0" y="0"/>
                  </a:moveTo>
                  <a:lnTo>
                    <a:pt x="3181350" y="0"/>
                  </a:lnTo>
                  <a:lnTo>
                    <a:pt x="3181350" y="647700"/>
                  </a:lnTo>
                  <a:lnTo>
                    <a:pt x="0" y="647700"/>
                  </a:lnTo>
                  <a:lnTo>
                    <a:pt x="0" y="0"/>
                  </a:lnTo>
                  <a:close/>
                </a:path>
              </a:pathLst>
            </a:custGeom>
            <a:blipFill>
              <a:blip r:embed="rId3"/>
              <a:stretch>
                <a:fillRect b="-2941"/>
              </a:stretch>
            </a:blipFill>
          </p:spPr>
        </p:sp>
      </p:grpSp>
      <p:grpSp>
        <p:nvGrpSpPr>
          <p:cNvPr id="6" name="Group 6"/>
          <p:cNvGrpSpPr/>
          <p:nvPr/>
        </p:nvGrpSpPr>
        <p:grpSpPr>
          <a:xfrm>
            <a:off x="3743325" y="6053214"/>
            <a:ext cx="1728788" cy="485775"/>
            <a:chOff x="0" y="0"/>
            <a:chExt cx="2305050" cy="647700"/>
          </a:xfrm>
        </p:grpSpPr>
        <p:sp>
          <p:nvSpPr>
            <p:cNvPr id="7" name="Freeform 7" descr="image.png"/>
            <p:cNvSpPr/>
            <p:nvPr/>
          </p:nvSpPr>
          <p:spPr>
            <a:xfrm>
              <a:off x="0" y="0"/>
              <a:ext cx="2305050" cy="647700"/>
            </a:xfrm>
            <a:custGeom>
              <a:avLst/>
              <a:gdLst/>
              <a:ahLst/>
              <a:cxnLst/>
              <a:rect l="l" t="t" r="r" b="b"/>
              <a:pathLst>
                <a:path w="2305050" h="647700">
                  <a:moveTo>
                    <a:pt x="0" y="0"/>
                  </a:moveTo>
                  <a:lnTo>
                    <a:pt x="2305050" y="0"/>
                  </a:lnTo>
                  <a:lnTo>
                    <a:pt x="2305050" y="647700"/>
                  </a:lnTo>
                  <a:lnTo>
                    <a:pt x="0" y="647700"/>
                  </a:lnTo>
                  <a:lnTo>
                    <a:pt x="0" y="0"/>
                  </a:lnTo>
                  <a:close/>
                </a:path>
              </a:pathLst>
            </a:custGeom>
            <a:blipFill>
              <a:blip r:embed="rId4"/>
              <a:stretch>
                <a:fillRect b="-2941"/>
              </a:stretch>
            </a:blipFill>
          </p:spPr>
        </p:sp>
      </p:grpSp>
      <p:grpSp>
        <p:nvGrpSpPr>
          <p:cNvPr id="8" name="Group 8"/>
          <p:cNvGrpSpPr/>
          <p:nvPr/>
        </p:nvGrpSpPr>
        <p:grpSpPr>
          <a:xfrm>
            <a:off x="1143000" y="6753301"/>
            <a:ext cx="2771775" cy="485775"/>
            <a:chOff x="0" y="0"/>
            <a:chExt cx="3695700" cy="647700"/>
          </a:xfrm>
        </p:grpSpPr>
        <p:sp>
          <p:nvSpPr>
            <p:cNvPr id="9" name="Freeform 9" descr="image.png"/>
            <p:cNvSpPr/>
            <p:nvPr/>
          </p:nvSpPr>
          <p:spPr>
            <a:xfrm>
              <a:off x="0" y="0"/>
              <a:ext cx="3695700" cy="647700"/>
            </a:xfrm>
            <a:custGeom>
              <a:avLst/>
              <a:gdLst/>
              <a:ahLst/>
              <a:cxnLst/>
              <a:rect l="l" t="t" r="r" b="b"/>
              <a:pathLst>
                <a:path w="3695700" h="647700">
                  <a:moveTo>
                    <a:pt x="0" y="0"/>
                  </a:moveTo>
                  <a:lnTo>
                    <a:pt x="3695700" y="0"/>
                  </a:lnTo>
                  <a:lnTo>
                    <a:pt x="3695700" y="647700"/>
                  </a:lnTo>
                  <a:lnTo>
                    <a:pt x="0" y="647700"/>
                  </a:lnTo>
                  <a:lnTo>
                    <a:pt x="0" y="0"/>
                  </a:lnTo>
                  <a:close/>
                </a:path>
              </a:pathLst>
            </a:custGeom>
            <a:blipFill>
              <a:blip r:embed="rId5"/>
              <a:stretch>
                <a:fillRect b="-2941"/>
              </a:stretch>
            </a:blipFill>
          </p:spPr>
        </p:sp>
      </p:grpSp>
      <p:sp>
        <p:nvSpPr>
          <p:cNvPr id="10" name="Freeform 10"/>
          <p:cNvSpPr/>
          <p:nvPr/>
        </p:nvSpPr>
        <p:spPr>
          <a:xfrm>
            <a:off x="8569304" y="1668736"/>
            <a:ext cx="9289261" cy="6949529"/>
          </a:xfrm>
          <a:custGeom>
            <a:avLst/>
            <a:gdLst/>
            <a:ahLst/>
            <a:cxnLst/>
            <a:rect l="l" t="t" r="r" b="b"/>
            <a:pathLst>
              <a:path w="9289261" h="6949529">
                <a:moveTo>
                  <a:pt x="0" y="0"/>
                </a:moveTo>
                <a:lnTo>
                  <a:pt x="9289261" y="0"/>
                </a:lnTo>
                <a:lnTo>
                  <a:pt x="9289261" y="6949528"/>
                </a:lnTo>
                <a:lnTo>
                  <a:pt x="0" y="6949528"/>
                </a:lnTo>
                <a:lnTo>
                  <a:pt x="0" y="0"/>
                </a:lnTo>
                <a:close/>
              </a:path>
            </a:pathLst>
          </a:custGeom>
          <a:blipFill>
            <a:blip r:embed="rId6"/>
            <a:stretch>
              <a:fillRect/>
            </a:stretch>
          </a:blipFill>
        </p:spPr>
      </p:sp>
      <p:sp>
        <p:nvSpPr>
          <p:cNvPr id="11" name="TextBox 11"/>
          <p:cNvSpPr txBox="1"/>
          <p:nvPr/>
        </p:nvSpPr>
        <p:spPr>
          <a:xfrm>
            <a:off x="1134836" y="3257697"/>
            <a:ext cx="6858000" cy="1952177"/>
          </a:xfrm>
          <a:prstGeom prst="rect">
            <a:avLst/>
          </a:prstGeom>
        </p:spPr>
        <p:txBody>
          <a:bodyPr lIns="0" tIns="0" rIns="0" bIns="0" rtlCol="0" anchor="t">
            <a:spAutoFit/>
          </a:bodyPr>
          <a:lstStyle/>
          <a:p>
            <a:pPr algn="l">
              <a:lnSpc>
                <a:spcPts val="3456"/>
              </a:lnSpc>
            </a:pPr>
            <a:r>
              <a:rPr lang="en-US" sz="1800" dirty="0">
                <a:solidFill>
                  <a:srgbClr val="475569"/>
                </a:solidFill>
                <a:latin typeface="Inter"/>
                <a:ea typeface="Inter"/>
                <a:cs typeface="Inter"/>
                <a:sym typeface="Inter"/>
              </a:rPr>
              <a:t>Veritas Claims acts as an explicit demonstration of foundational software architecture, demonstrating capacity to engineer scalable backends, deploy structural data validations, translate complex business parameters into logic, and build polished analytic layers.</a:t>
            </a:r>
          </a:p>
        </p:txBody>
      </p:sp>
      <p:sp>
        <p:nvSpPr>
          <p:cNvPr id="12" name="TextBox 12"/>
          <p:cNvSpPr txBox="1"/>
          <p:nvPr/>
        </p:nvSpPr>
        <p:spPr>
          <a:xfrm>
            <a:off x="1417368" y="1952211"/>
            <a:ext cx="7151936" cy="1305486"/>
          </a:xfrm>
          <a:prstGeom prst="rect">
            <a:avLst/>
          </a:prstGeom>
        </p:spPr>
        <p:txBody>
          <a:bodyPr wrap="square" lIns="0" tIns="0" rIns="0" bIns="0" rtlCol="0" anchor="t">
            <a:spAutoFit/>
          </a:bodyPr>
          <a:lstStyle/>
          <a:p>
            <a:pPr algn="l">
              <a:lnSpc>
                <a:spcPts val="5180"/>
              </a:lnSpc>
            </a:pPr>
            <a:r>
              <a:rPr lang="en-US" sz="3600" dirty="0">
                <a:solidFill>
                  <a:srgbClr val="0F172A"/>
                </a:solidFill>
                <a:latin typeface="Cinema Outfit"/>
                <a:ea typeface="Cinema Outfit"/>
                <a:cs typeface="Cinema Outfit"/>
                <a:sym typeface="Cinema Outfit"/>
              </a:rPr>
              <a:t>project outcomes</a:t>
            </a:r>
          </a:p>
          <a:p>
            <a:pPr algn="l">
              <a:lnSpc>
                <a:spcPts val="5182"/>
              </a:lnSpc>
            </a:pPr>
            <a:endParaRPr lang="en-US" sz="3600" dirty="0">
              <a:solidFill>
                <a:srgbClr val="0F172A"/>
              </a:solidFill>
              <a:latin typeface="Cinema Outfit"/>
              <a:ea typeface="Cinema Outfit"/>
              <a:cs typeface="Cinema Outfit"/>
              <a:sym typeface="Cinema Outfit"/>
            </a:endParaRPr>
          </a:p>
        </p:txBody>
      </p:sp>
      <p:sp>
        <p:nvSpPr>
          <p:cNvPr id="13" name="TextBox 13"/>
          <p:cNvSpPr txBox="1"/>
          <p:nvPr/>
        </p:nvSpPr>
        <p:spPr>
          <a:xfrm>
            <a:off x="11034743" y="8713852"/>
            <a:ext cx="4358382" cy="544448"/>
          </a:xfrm>
          <a:prstGeom prst="rect">
            <a:avLst/>
          </a:prstGeom>
        </p:spPr>
        <p:txBody>
          <a:bodyPr lIns="0" tIns="0" rIns="0" bIns="0" rtlCol="0" anchor="t">
            <a:spAutoFit/>
          </a:bodyPr>
          <a:lstStyle/>
          <a:p>
            <a:pPr algn="ctr">
              <a:lnSpc>
                <a:spcPts val="4428"/>
              </a:lnSpc>
              <a:spcBef>
                <a:spcPct val="0"/>
              </a:spcBef>
            </a:pPr>
            <a:r>
              <a:rPr lang="en-US" sz="3075">
                <a:solidFill>
                  <a:srgbClr val="000000"/>
                </a:solidFill>
                <a:latin typeface="Cinema Outfit"/>
                <a:ea typeface="Cinema Outfit"/>
                <a:cs typeface="Cinema Outfit"/>
                <a:sym typeface="Cinema Outfit"/>
              </a:rPr>
              <a:t>Monitoring Dashboard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4536281" y="5926188"/>
            <a:ext cx="9215438" cy="885825"/>
            <a:chOff x="0" y="0"/>
            <a:chExt cx="12287250" cy="1181100"/>
          </a:xfrm>
        </p:grpSpPr>
        <p:sp>
          <p:nvSpPr>
            <p:cNvPr id="5" name="Freeform 5" descr="image.png"/>
            <p:cNvSpPr/>
            <p:nvPr/>
          </p:nvSpPr>
          <p:spPr>
            <a:xfrm>
              <a:off x="0" y="0"/>
              <a:ext cx="12287250" cy="1181100"/>
            </a:xfrm>
            <a:custGeom>
              <a:avLst/>
              <a:gdLst/>
              <a:ahLst/>
              <a:cxnLst/>
              <a:rect l="l" t="t" r="r" b="b"/>
              <a:pathLst>
                <a:path w="12287250" h="1181100">
                  <a:moveTo>
                    <a:pt x="0" y="0"/>
                  </a:moveTo>
                  <a:lnTo>
                    <a:pt x="12287250" y="0"/>
                  </a:lnTo>
                  <a:lnTo>
                    <a:pt x="12287250" y="1181100"/>
                  </a:lnTo>
                  <a:lnTo>
                    <a:pt x="0" y="1181100"/>
                  </a:lnTo>
                  <a:lnTo>
                    <a:pt x="0" y="0"/>
                  </a:lnTo>
                  <a:close/>
                </a:path>
              </a:pathLst>
            </a:custGeom>
            <a:blipFill>
              <a:blip r:embed="rId4"/>
              <a:stretch>
                <a:fillRect b="-6743"/>
              </a:stretch>
            </a:blipFill>
          </p:spPr>
        </p:sp>
      </p:grpSp>
      <p:sp>
        <p:nvSpPr>
          <p:cNvPr id="6" name="TextBox 6"/>
          <p:cNvSpPr txBox="1"/>
          <p:nvPr/>
        </p:nvSpPr>
        <p:spPr>
          <a:xfrm>
            <a:off x="6836211" y="3091386"/>
            <a:ext cx="5115639" cy="1415282"/>
          </a:xfrm>
          <a:prstGeom prst="rect">
            <a:avLst/>
          </a:prstGeom>
        </p:spPr>
        <p:txBody>
          <a:bodyPr lIns="0" tIns="0" rIns="0" bIns="0" rtlCol="0" anchor="t">
            <a:spAutoFit/>
          </a:bodyPr>
          <a:lstStyle/>
          <a:p>
            <a:pPr algn="ctr">
              <a:lnSpc>
                <a:spcPts val="11664"/>
              </a:lnSpc>
            </a:pPr>
            <a:r>
              <a:rPr lang="en-US" sz="8100" dirty="0">
                <a:solidFill>
                  <a:srgbClr val="FFFFFF"/>
                </a:solidFill>
                <a:latin typeface="Cinema Outfit"/>
                <a:ea typeface="Cinema Outfit"/>
                <a:cs typeface="Cinema Outfit"/>
                <a:sym typeface="Cinema Outfit"/>
              </a:rPr>
              <a:t>Thank You</a:t>
            </a:r>
          </a:p>
        </p:txBody>
      </p:sp>
      <p:sp>
        <p:nvSpPr>
          <p:cNvPr id="7" name="TextBox 7"/>
          <p:cNvSpPr txBox="1"/>
          <p:nvPr/>
        </p:nvSpPr>
        <p:spPr>
          <a:xfrm>
            <a:off x="4950619" y="4670974"/>
            <a:ext cx="8386762" cy="683714"/>
          </a:xfrm>
          <a:prstGeom prst="rect">
            <a:avLst/>
          </a:prstGeom>
        </p:spPr>
        <p:txBody>
          <a:bodyPr lIns="0" tIns="0" rIns="0" bIns="0" rtlCol="0" anchor="t">
            <a:spAutoFit/>
          </a:bodyPr>
          <a:lstStyle/>
          <a:p>
            <a:pPr algn="ctr">
              <a:lnSpc>
                <a:spcPts val="4752"/>
              </a:lnSpc>
            </a:pPr>
            <a:r>
              <a:rPr lang="en-US" sz="2475">
                <a:solidFill>
                  <a:srgbClr val="0D9488"/>
                </a:solidFill>
                <a:latin typeface="Inter"/>
                <a:ea typeface="Inter"/>
                <a:cs typeface="Inter"/>
                <a:sym typeface="Inter"/>
              </a:rPr>
              <a:t>Veritas Claims Data Processing Pipeline • Q&amp;A Session</a:t>
            </a:r>
          </a:p>
        </p:txBody>
      </p:sp>
      <p:grpSp>
        <p:nvGrpSpPr>
          <p:cNvPr id="8" name="Group 8"/>
          <p:cNvGrpSpPr/>
          <p:nvPr/>
        </p:nvGrpSpPr>
        <p:grpSpPr>
          <a:xfrm>
            <a:off x="8722519" y="6226226"/>
            <a:ext cx="14288" cy="285750"/>
            <a:chOff x="0" y="0"/>
            <a:chExt cx="19050" cy="381000"/>
          </a:xfrm>
        </p:grpSpPr>
        <p:sp>
          <p:nvSpPr>
            <p:cNvPr id="9" name="Freeform 9"/>
            <p:cNvSpPr/>
            <p:nvPr/>
          </p:nvSpPr>
          <p:spPr>
            <a:xfrm>
              <a:off x="0" y="0"/>
              <a:ext cx="19050" cy="381000"/>
            </a:xfrm>
            <a:custGeom>
              <a:avLst/>
              <a:gdLst/>
              <a:ahLst/>
              <a:cxnLst/>
              <a:rect l="l" t="t" r="r" b="b"/>
              <a:pathLst>
                <a:path w="19050" h="381000">
                  <a:moveTo>
                    <a:pt x="0" y="0"/>
                  </a:moveTo>
                  <a:lnTo>
                    <a:pt x="19050" y="0"/>
                  </a:lnTo>
                  <a:lnTo>
                    <a:pt x="19050" y="381000"/>
                  </a:lnTo>
                  <a:lnTo>
                    <a:pt x="0" y="381000"/>
                  </a:lnTo>
                  <a:close/>
                </a:path>
              </a:pathLst>
            </a:custGeom>
            <a:solidFill>
              <a:srgbClr val="FFFFFF"/>
            </a:solidFill>
          </p:spPr>
        </p:sp>
      </p:grpSp>
      <p:grpSp>
        <p:nvGrpSpPr>
          <p:cNvPr id="10" name="Group 10"/>
          <p:cNvGrpSpPr/>
          <p:nvPr/>
        </p:nvGrpSpPr>
        <p:grpSpPr>
          <a:xfrm>
            <a:off x="5122069" y="6254801"/>
            <a:ext cx="228600" cy="228600"/>
            <a:chOff x="0" y="0"/>
            <a:chExt cx="304800" cy="304800"/>
          </a:xfrm>
        </p:grpSpPr>
        <p:sp>
          <p:nvSpPr>
            <p:cNvPr id="11" name="Freeform 11" descr="image.png"/>
            <p:cNvSpPr/>
            <p:nvPr/>
          </p:nvSpPr>
          <p:spPr>
            <a:xfrm>
              <a:off x="0" y="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blipFill>
              <a:blip r:embed="rId5"/>
              <a:stretch>
                <a:fillRect/>
              </a:stretch>
            </a:blipFill>
          </p:spPr>
        </p:sp>
      </p:grpSp>
      <p:sp>
        <p:nvSpPr>
          <p:cNvPr id="12" name="TextBox 12"/>
          <p:cNvSpPr txBox="1"/>
          <p:nvPr/>
        </p:nvSpPr>
        <p:spPr>
          <a:xfrm>
            <a:off x="5510709" y="6226226"/>
            <a:ext cx="2980826" cy="266804"/>
          </a:xfrm>
          <a:prstGeom prst="rect">
            <a:avLst/>
          </a:prstGeom>
        </p:spPr>
        <p:txBody>
          <a:bodyPr wrap="square" lIns="0" tIns="0" rIns="0" bIns="0" rtlCol="0" anchor="t">
            <a:spAutoFit/>
          </a:bodyPr>
          <a:lstStyle/>
          <a:p>
            <a:pPr algn="ctr">
              <a:lnSpc>
                <a:spcPts val="2160"/>
              </a:lnSpc>
            </a:pPr>
            <a:r>
              <a:rPr lang="en-US" sz="1800" b="1" u="sng" dirty="0">
                <a:solidFill>
                  <a:schemeClr val="bg1"/>
                </a:solidFill>
                <a:latin typeface="Inter"/>
                <a:ea typeface="Inter"/>
                <a:cs typeface="Inter"/>
                <a:sym typeface="Inter"/>
                <a:hlinkClick r:id="rId6" tooltip="https://github.com/Pranava-Pai-N/Veritas-Claims">
                  <a:extLst>
                    <a:ext uri="{A12FA001-AC4F-418D-AE19-62706E023703}">
                      <ahyp:hlinkClr xmlns:ahyp="http://schemas.microsoft.com/office/drawing/2018/hyperlinkcolor" val="tx"/>
                    </a:ext>
                  </a:extLst>
                </a:hlinkClick>
              </a:rPr>
              <a:t>github.com/veritas-claims</a:t>
            </a:r>
          </a:p>
        </p:txBody>
      </p:sp>
      <p:grpSp>
        <p:nvGrpSpPr>
          <p:cNvPr id="13" name="Group 13"/>
          <p:cNvGrpSpPr/>
          <p:nvPr/>
        </p:nvGrpSpPr>
        <p:grpSpPr>
          <a:xfrm>
            <a:off x="9165431" y="6254801"/>
            <a:ext cx="228600" cy="228600"/>
            <a:chOff x="0" y="0"/>
            <a:chExt cx="304800" cy="304800"/>
          </a:xfrm>
        </p:grpSpPr>
        <p:sp>
          <p:nvSpPr>
            <p:cNvPr id="14" name="Freeform 14" descr="image.png"/>
            <p:cNvSpPr/>
            <p:nvPr/>
          </p:nvSpPr>
          <p:spPr>
            <a:xfrm>
              <a:off x="0" y="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blipFill>
              <a:blip r:embed="rId7"/>
              <a:stretch>
                <a:fillRect/>
              </a:stretch>
            </a:blipFill>
          </p:spPr>
        </p:sp>
      </p:grpSp>
      <p:sp>
        <p:nvSpPr>
          <p:cNvPr id="15" name="TextBox 15"/>
          <p:cNvSpPr txBox="1"/>
          <p:nvPr/>
        </p:nvSpPr>
        <p:spPr>
          <a:xfrm>
            <a:off x="9886355" y="6226226"/>
            <a:ext cx="2930128" cy="266700"/>
          </a:xfrm>
          <a:prstGeom prst="rect">
            <a:avLst/>
          </a:prstGeom>
        </p:spPr>
        <p:txBody>
          <a:bodyPr lIns="0" tIns="0" rIns="0" bIns="0" rtlCol="0" anchor="t">
            <a:spAutoFit/>
          </a:bodyPr>
          <a:lstStyle/>
          <a:p>
            <a:pPr algn="ctr">
              <a:lnSpc>
                <a:spcPts val="2160"/>
              </a:lnSpc>
            </a:pPr>
            <a:r>
              <a:rPr lang="en-US" sz="1800">
                <a:solidFill>
                  <a:srgbClr val="94A3B8"/>
                </a:solidFill>
                <a:latin typeface="Inter"/>
                <a:ea typeface="Inter"/>
                <a:cs typeface="Inter"/>
                <a:sym typeface="Inter"/>
              </a:rPr>
              <a:t>pranavpai0309@gmail.com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758</Words>
  <Application>Microsoft Office PowerPoint</Application>
  <PresentationFormat>Custom</PresentationFormat>
  <Paragraphs>92</Paragraphs>
  <Slides>12</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Inter Bold</vt:lpstr>
      <vt:lpstr>Arimo</vt:lpstr>
      <vt:lpstr>Cinema Outfit</vt:lpstr>
      <vt:lpstr>Arial</vt:lpstr>
      <vt:lpstr>Bangers</vt:lpstr>
      <vt:lpstr>Calibri</vt:lpstr>
      <vt:lpstr>Inter</vt:lpstr>
      <vt:lpstr>Inter Medium</vt:lpstr>
      <vt:lpstr>Arimo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Veritas Claims Presentation.pptx</dc:title>
  <cp:lastModifiedBy>Pranava Pai N</cp:lastModifiedBy>
  <cp:revision>3</cp:revision>
  <dcterms:created xsi:type="dcterms:W3CDTF">2006-08-16T00:00:00Z</dcterms:created>
  <dcterms:modified xsi:type="dcterms:W3CDTF">2026-07-13T19:09:49Z</dcterms:modified>
  <dc:identifier>DAHPSuxE7Q8</dc:identifier>
</cp:coreProperties>
</file>